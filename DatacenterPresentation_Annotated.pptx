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MW</c:v>
                </c:pt>
              </c:strCache>
            </c:strRef>
          </c:tx>
          <c:spPr>
            <a:solidFill>
              <a:srgbClr val="0D7A5F"/>
            </a:solidFill>
            <a:effectLst/>
          </c:spPr>
          <c:invertIfNegative val="0"/>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cat>
            <c:multiLvlStrRef>
              <c:f>Sheet1!$A$2:$A$6</c:f>
              <c:multiLvlStrCache>
                <c:ptCount val="5"/>
                <c:lvl>
                  <c:pt idx="0">
                    <c:v>2021</c:v>
                  </c:pt>
                  <c:pt idx="1">
                    <c:v>2022</c:v>
                  </c:pt>
                  <c:pt idx="2">
                    <c:v>2023</c:v>
                  </c:pt>
                  <c:pt idx="3">
                    <c:v>2024</c:v>
                  </c:pt>
                  <c:pt idx="4">
                    <c:v>H1 2025</c:v>
                  </c:pt>
                </c:lvl>
              </c:multiLvlStrCache>
            </c:multiLvlStrRef>
          </c:cat>
          <c:val>
            <c:numRef>
              <c:f>Sheet1!$B$2:$B$6</c:f>
              <c:numCache>
                <c:formatCode>General</c:formatCode>
                <c:ptCount val="5"/>
                <c:pt idx="0">
                  <c:v>33</c:v>
                </c:pt>
                <c:pt idx="1">
                  <c:v>55</c:v>
                </c:pt>
                <c:pt idx="2">
                  <c:v>72</c:v>
                </c:pt>
                <c:pt idx="3">
                  <c:v>120</c:v>
                </c:pt>
                <c:pt idx="4">
                  <c:v>236</c:v>
                </c:pt>
              </c:numCache>
            </c:numRef>
          </c:val>
        </c:ser>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San Francisco</c:v>
                </c:pt>
              </c:strCache>
            </c:strRef>
          </c:tx>
          <c:spPr>
            <a:solidFill>
              <a:srgbClr val="B83232"/>
            </a:solidFill>
            <a:ln w="31750" cap="flat">
              <a:solidFill>
                <a:srgbClr val="B832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83232"/>
              </a:solidFill>
              <a:ln w="9525" cap="flat">
                <a:solidFill>
                  <a:srgbClr val="B83232"/>
                </a:solidFill>
                <a:prstDash val="solid"/>
                <a:round/>
              </a:ln>
              <a:effectLst/>
            </c:spPr>
          </c:marker>
          <c:cat>
            <c:multiLvlStrRef>
              <c:f>Sheet1!$A$2:$A$6</c:f>
              <c:multiLvlStrCache>
                <c:ptCount val="5"/>
                <c:lvl>
                  <c:pt idx="0">
                    <c:v>2000</c:v>
                  </c:pt>
                  <c:pt idx="1">
                    <c:v>2001</c:v>
                  </c:pt>
                  <c:pt idx="2">
                    <c:v>2002</c:v>
                  </c:pt>
                  <c:pt idx="3">
                    <c:v>2003</c:v>
                  </c:pt>
                  <c:pt idx="4">
                    <c:v>2004</c:v>
                  </c:pt>
                </c:lvl>
              </c:multiLvlStrCache>
            </c:multiLvlStrRef>
          </c:cat>
          <c:val>
            <c:numRef>
              <c:f>Sheet1!$B$2:$B$6</c:f>
              <c:numCache>
                <c:formatCode>General</c:formatCode>
                <c:ptCount val="5"/>
                <c:pt idx="0">
                  <c:v>1.3</c:v>
                </c:pt>
                <c:pt idx="1">
                  <c:v>7.2</c:v>
                </c:pt>
                <c:pt idx="2">
                  <c:v>13.5</c:v>
                </c:pt>
                <c:pt idx="3">
                  <c:v>15.5</c:v>
                </c:pt>
                <c:pt idx="4">
                  <c:v>14.2</c:v>
                </c:pt>
              </c:numCache>
            </c:numRef>
          </c:val>
          <c:smooth val="0"/>
        </c:ser>
        <c:ser>
          <c:idx val="1"/>
          <c:order val="1"/>
          <c:tx>
            <c:strRef>
              <c:f>Sheet1!$C$1</c:f>
              <c:strCache>
                <c:ptCount val="1"/>
                <c:pt idx="0">
                  <c:v>Boston</c:v>
                </c:pt>
              </c:strCache>
            </c:strRef>
          </c:tx>
          <c:spPr>
            <a:solidFill>
              <a:srgbClr val="C9922A"/>
            </a:solidFill>
            <a:ln w="31750" cap="flat">
              <a:solidFill>
                <a:srgbClr val="C992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922A"/>
              </a:solidFill>
              <a:ln w="9525" cap="flat">
                <a:solidFill>
                  <a:srgbClr val="C9922A"/>
                </a:solidFill>
                <a:prstDash val="solid"/>
                <a:round/>
              </a:ln>
              <a:effectLst/>
            </c:spPr>
          </c:marker>
          <c:cat>
            <c:multiLvlStrRef>
              <c:f>Sheet1!$A$2:$A$6</c:f>
              <c:multiLvlStrCache>
                <c:ptCount val="5"/>
                <c:lvl>
                  <c:pt idx="0">
                    <c:v>2000</c:v>
                  </c:pt>
                  <c:pt idx="1">
                    <c:v>2001</c:v>
                  </c:pt>
                  <c:pt idx="2">
                    <c:v>2002</c:v>
                  </c:pt>
                  <c:pt idx="3">
                    <c:v>2003</c:v>
                  </c:pt>
                  <c:pt idx="4">
                    <c:v>2004</c:v>
                  </c:pt>
                </c:lvl>
              </c:multiLvlStrCache>
            </c:multiLvlStrRef>
          </c:cat>
          <c:val>
            <c:numRef>
              <c:f>Sheet1!$C$2:$C$6</c:f>
              <c:numCache>
                <c:formatCode>General</c:formatCode>
                <c:ptCount val="5"/>
                <c:pt idx="0">
                  <c:v>2.9</c:v>
                </c:pt>
                <c:pt idx="1">
                  <c:v>7</c:v>
                </c:pt>
                <c:pt idx="2">
                  <c:v>10.8</c:v>
                </c:pt>
                <c:pt idx="3">
                  <c:v>12.2</c:v>
                </c:pt>
                <c:pt idx="4">
                  <c:v>11.5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Opening (30-60 sec):
"Thanks everyone for making time. What I want to walk through today is what I think is the most interesting and most misunderstood investment story in the Canadian CRE market right now — the data centre cycle in Ontario, and specifically what's happening east of the GTA.
The three numbers on the left tell you where Toronto sits today: 312 MW of live capacity, nearly 600 MW in the pipeline, and 94.5% of what's under construction already pre-committed. That last number is the one to hold onto — it means this is not speculative. There is real, committed demand behind this pipeline.
But there is a genuine paradox here: the demand is real, and so is the risk. I want to work through both honestly, and then show you why Eastern Ontario specifically is where the most interesting opportunity sits right now — and what it means for us as advisors."
[Pause. Let the stats land before advancing.]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AGENDA
"Here's how we're going to move through this.
We'll start with the demand case — why Ontario's data centre market is growing as fast as it is and what the numbers actually show. Then we'll zoom into Eastern Ontario specifically, because that's where I think the forward-looking opportunity is.
From there, we go into the risk landscape — and I want to be upfront that there are real risks here, not just upside. Then we'll look at what this cycle means for us: where the advisory opportunity is and where the reputational exposure sits. And we'll close with concrete mitigations and what I think our next moves should be.
This should take about 25 to 30 minutes including discussion. I'd rather we go deep on a few things than skim everything, so please jump in with questions as we go."
[Read the room — if they look like they want to move fast, say 'feel free to stop me at any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DEMAND CASE
"Let's start with the numbers, because they're genuinely striking.
Toronto ended the first half of 2025 with 312 megawatts of operational data centre capacity — that's from CBRE's own research. What's more telling is the pipeline: 596 MW under construction or planned, and 94.5% of the 236 MW currently under construction is already pre-committed. In most asset classes, a 94% pre-leasing rate before delivery would be considered extraordinary. In the Toronto data centre market right now, it's the norm.
Look at the chart — IT load under construction jumped from 33 MW in 2021 to 236 MW in H1 2025. That's not gradual growth, that's a step change. The 112 MW project on Langstaff Road in Markham alone accounts for nearly half of that.
On the right, three demand drivers that I'd push back on anyone who calls this a pure AI story:
One — AI training and inference is clearly the proximate driver. Every new frontier model requires roughly ten times the compute of its predecessor. But AI inference — running deployed models at scale — is continuous and growing regardless of whether new training runs slow down.
Two — cloud migration is still less than 40% complete globally for enterprise workloads. That structural tailwind exists entirely independent of AI.
Three — and this is underappreciated — Canadian data sovereignty requirements mean that financial services, healthcare, and government tenants are legally required to host certain data domestically. That's a demand floor that doesn't exist in most other markets."
[Point to the 94.5% figure specifically when you say it — it's the most important number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EASTERN ONTARIO: THE EMERGING FRONTIER
"So if Toronto is the established market, why are we talking about Eastern Ontario?
The short answer is that Toronto's grid is running out of headroom. Hydro One connection timelines in established GTA corridors are stretching to three to five years. When a data centre operator is told they can connect in 18 months in Kingston versus 48 months in Mississauga, that's not a marginal consideration — it changes the entire development pro forma.
On the map, the red dots are the constrained and active markets — Toronto and Markham are already heavily committed. The teal dots along the 401 corridor are where the opportunity window sits: Kingston, Belleville, Cobourg.
Let me walk through the four pillars quickly:
Power — Eastern Ontario sits adjacent to the Darlington and Pickering nuclear stations. Ontario's grid is predominantly nuclear and hydro, which is a structural ESG advantage over U.S. markets that are restarting coal plants to power data centres. And the Darlington SMR project — the first grid-scale small modular reactor in North America — is expected to add approximately 1,200 MW of clean baseload capacity by the mid-2030s. That's a forward-looking catalyst that isn't priced into Eastern Ontario land values today.
Water — Lake Ontario and the St. Lawrence provide cooling infrastructure that Phoenix and Las Vegas would consider extraordinary. Water access is already a hard constraint delaying projects in the U.S. Southwest. In Ontario it's essentially free infrastructure.
Land cost — we're talking a fraction of GTA pricing per acre for 50 to 200+ acre hyperscale sites. Communities along this corridor are actively courting data centre investment.
Government — Bill 40 creates a fast-track grid approval process for strategic data centres. The Canadian Sovereign AI Compute Strategy has made this a national policy priority."
[If anyone asks about the SMR timeline, the mid-2030s projection is from Ontario Power Generation. It's a real project but the timeline is aspirational — be honest about that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FIRST-MOVER ADVANTAGE
"This slide makes the comparison explicit. When you put GTA and Eastern Ontario side by side on the criteria that actually drive data centre site selection, Eastern Ontario wins on most of them.
The grid connection timeline difference is the most commercially significant. Three to five years in the GTA versus six to 24 months in Eastern Ontario. For a developer or hyperscaler trying to get compute online to meet contracted AI workload demand, that gap translates directly into lost revenue and broken SLAs. It's not a preference — it's a constraint.
Power cost is lower in Eastern Ontario because you're closer to nuclear baseload generation. Land cost is dramatically lower. Water access is structurally superior. Government support is active rather than passive.
The key line in that investment thesis callout is this: 'not yet fully priced into Eastern Ontario industrial land markets.' That's the window. Once a hyperscaler anchor deal gets announced in Kingston or Belleville, land values will reprice quickly — the same way Loudoun County in Virginia repriced once Amazon Web Services established Ashburn as the global data centre capital.
The question for us is: do we position clients to be in front of that repricing, or do we help them chase it afterward?
I'd also flag the Hyperscaler presence row in the table — 'Emerging, first-mover window' versus 'Established.' Once hyperscalers anchor a market, they attract colocation demand from enterprises that want proximity to that infrastructure. The flywheel starts slowly and then compounds. Eastern Ontario is pre-flywheel right now."
[This is a good slide to pause on and ask 'does anyone have a view on which corridor within Eastern Ontario makes the most sense?' — it usually generates good discussion about Kingston vs Belleville positioning.]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THE RISK LANDSCAPE
"I want to spend real time on this slide, because I think the risk is underappreciated in most conversations about data centres right now.
Michael Burry — if you don't know the name, he's the investor who was right about the 2008 housing collapse, famously depicted in The Big Short. In November 2025 he published a piece calling the AI infrastructure cycle a 'supply-side gluttony' and explicitly comparing Nvidia to Cisco at the peak of the dot-com bubble. Cisco surged nearly 4,000% from 1995 to 2000, then fell more than 80% as demand plateaued. Burry is suggesting Nvidia is on the same trajectory.
Now, whether you agree with Burry or not, the underlying math he's pointing to is real. Bain has estimated that the AI infrastructure buildout requires $2 trillion in annual AI revenue by 2030 to justify the investment levels being committed today. To give you a sense of scale — that exceeds the combined 2024 revenues of Amazon, Apple, Alphabet, Microsoft, Meta, and Nvidia combined. That's a very high bar.
The circular financing point is also real and worth understanding: Microsoft invests in OpenAI. OpenAI runs on Microsoft Azure. Microsoft reports Azure revenue growth driven by AI. That revenue growth justifies further Microsoft capex. The question is how much of that loop reflects genuine end-user AI revenue versus internal transfers.
On the right, the four underwriting flags I'd emphasize: tenant concentration, power delivery delays, development cost inflation, and cap rate risk. I'll go into each of these in the mitigations slide, but the key headline is: not all data centre deals are equal. The risk profile of a 20-year NNN lease to Microsoft is completely different from a 3-year lease to a venture-backed AI startup."
[Anticipate pushback here — someone may say 'but the demand is clearly real.' Agree, and hold the paradox: the demand is real AND the capital risk is real. Both can be true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DOT-COM PARALLEL
"The dot-com comparison is instructive, but it's also imperfect — and I think it's important to be precise about which parts of the parallel hold and which don't.
The chart on the left shows what happened to office vacancy in San Francisco and Boston after the dot-com collapse. SF went from 1.3% vacancy in 2000 to 15.5% in 2003. Boston went from under 3% to over 12%. And it took roughly 15 years for those markets to fully recover. The reason? The tenants driving that demand — venture-backed dot-com companies — simply ceased to exist. They defaulted on leases, vacated space, and the supply-demand balance snapped dramatically.
Now compare that to the comparison table on the right. In the AI cycle, the tenants driving data centre demand are not venture-backed startups — they are Microsoft, Google, Amazon, and Meta. These companies have balance sheets capable of absorbing years of overcapacity without defaulting on leases. That's a categorically different credit quality than the dot-com office tenant base.
The more precise parallel is actually to the telecoms infrastructure built during the dot-com era. WorldCom and Global Crossing spent tens of billions laying fibre optic cable — both went bankrupt. But the fibre they laid is still in the ground and still carrying the majority of global internet traffic today. The infrastructure outlasted the speculation.
Data centres are the fibre of the AI economy. If the AI equity bubble corrects, the hyperscale campuses with long-term leases will continue to operate. What will get hurt are the speculative developments without committed tenants, and the shorter-term leases to AI companies whose burn rates aren't sustainable.
For us, the actionable implication is: underwrite the tenant, not the hype cycle."
[The key insight box at the bottom right is your landing point for this slide. Read it out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IMPACT TO CBRE
"This is where the analysis becomes directly relevant to us as a firm.
Industrial Leasing — data centre operators looking at Eastern Ontario are not standard industrial clients. They need advisors who understand power infrastructure, connectivity, cooling specs, and grid connection timelines. That is specialized knowledge. Brokers who develop it early will command premium mandates. Those who don't will get generic industrial assignments at standard fees.
Capital Markets — Canadian pension funds — CPP, OMERS, Teachers' — are actively seeking domestic data centre exposure. They have the capital, understand infrastructure investing, and have structural reasons to prefer Canadian assets. They need trusted advisors to underwrite the deals. If we're not building those relationships now, someone else will be.
Land Advisory — there is a specific, time-limited window to help clients identify off-market sites in Eastern Ontario before data centre demand gets priced into industrial land values. That window is roughly 12 to 18 months. After the first hyperscaler announcement, land reprices and the arbitrage closes.
Valuation and Research — cap rate benchmarking and NOI analysis for data centre assets is a growing service line with almost no specialist competition in Canada right now.
The two risk panels: Client Reputational Risk — if we advise on a poorly-structured deal that corrects sharply, the reputational cost is disproportionate to the fee. Being associated with a speculative deal that goes wrong is hard to recover from quickly.
Talent Competition — the expertise we need is genuinely scarce. We either invest in developing it internally or find credible partnerships. Waiting is not a neutral choice."
[Good moment to ask: 'Where do you think we're currently strongest and weakest across these six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MITIGATIONS &amp; STRATEGIC RECOMMENDATIONS
"Let me take you through the five underwriting disciplines first, because these are non-negotiable if we're going to advise clients in this space credibly.
One — Tenant quality first. This is the single most important risk mitigation available to us. A 20-year NNN lease to Microsoft is a completely different risk profile from a 3-year lease to an AI startup burning $1B per quarter. No speculative exposure, no venture-backed tenant exposure. Hyperscaler or investment-grade only.
Two — Power before pencils. Before we underwrite any development timeline, we need confirmed grid connection feasibility from Hydro One or OPG. Ontario connection timelines are stretching to 36 to 48 months in some corridors. Any deal underwritten on an 18-month assumption is going to have significant carry cost problems. We should be building in a buffer on every deal.
Three — Cost assumptions. GPU rack density has jumped from 5 to 10 kilowatts per rack a few years ago to 50 to 100 kilowatts per rack for AI compute workloads. If you're using 2022 development cost benchmarks, you are materially understating the capital required. Every underwriting model needs to use current density assumptions.
Four — Lease term must exceed hardware lifecycle. Data centre hardware cycles every three to five years. If a lease is shorter than the hardware cycle, you have re-tenanting risk at exactly the moment the tenant is evaluating whether to upgrade infrastructure or move to a newer facility.
Five — Stress test cap rates. We had significant cap rate compression in data centres from 2021 to 2024. Some of that was interest rate driven. In a sustained higher-rate environment, we should be modelling 50 to 100 basis points of expansion on any acquisition and making sure the deal still works.
Now the five strategic actions — and I want to be clear these are time-sensitive:
Map the corridor now. Commission an off-market site identification exercise along the Kingston-Belleville 401 corridor. This window is 12 to 18 months before pricing adjusts.
Build power expertise. We need someone on our team who understands Hydro One and OPG grid connection processes. This is the number one knowledge gap I've identified.
Publish quarterly market data. If we establish ourselves as the definitive Eastern Ontario data centre research source, that market data leadership directly drives mandate wins.
Pension fund positioning. CPP, OMERS, and Teachers' are the natural anchor investors for a Canadian tokenized or direct data centre vehicle. Develop a proactive pitch — they already have the capital allocated.
Be the disciplined advisor. Decline mandates on speculative deals without institutional anchor tenants. Brand protection in a frothy market is a long-term competitive advantage."
[This is typically the slide where you get the most pushback and engagement. Budget extra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SCENARIO ANALYSIS
"I want to close the risk section with a scenario framework, because I think it's important to be honest that we can't predict which of these plays out — and the right answer is to position for resilience across all three, not to bet entirely on the base case.
Base case — AI demand meets projections. This is the consensus view right now. In this scenario, the Toronto pipeline gets fully absorbed, Eastern Ontario land banking accelerates, and our advisory mandate across leasing, capital markets, land, and valuation is fully activated. This is the scenario where moving early in Eastern Ontario pays off most significantly.
Moderation — AI equity corrects, demand slows. This doesn't mean data centres collapse. It means hyperscaler capex gets cut 20 to 30%, speculative development stalls, and the pre-committed Toronto pipeline mostly delivers but Eastern Ontario land banking pauses. Importantly, this is actually an opportunity for patient capital to acquire Eastern Ontario assets at reset prices, ahead of the next demand cycle. For us, this scenario means shifting advisory emphasis toward distressed and restructuring work while maintaining our Eastern Ontario research presence.
Stress scenario — the Burry scenario plays out. In this case, data centre equities reprice sharply, development cost write-downs occur, and secondary market transactions emerge. Crucially: hyperscale assets with long-term leases still hold their value. What gets hurt is shorter-lease colocation and any speculative development without committed tenants. For us, the protection here is having advised only on well-structured deals with institutional tenants — our reputation stays intact regardless of what happens to the sector broadly.
The through-line across all three scenarios is the same: tenant quality and lease structure are the primary value preservers. The risk mitigation disciplines from the previous slide apply in all scenarios, not just the stress case."
[If someone asks 'which scenario do you think is most likely?' — be honest that the base case is most probable but the stress scenario is more probable than the market is currently pricing. That's the analytically defensible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CONCLUSION &amp; RECOMMENDED ACTIONS
"Let me bring this together.
The opportunity is real. Toronto's data centre market has 312 MW online and 596 MW coming, and Eastern Ontario is the next phase of that wave — underpriced relative to its structural power, water, and land advantages. The Darlington SMR is a 2030s catalyst that will compound the value of first-mover land positions acquired today. Canadian pension capital is ready, seeking domestic exposure, and looking for advisors they trust.
The risk is also real. Burry's thesis is analytically grounded, not just contrarian noise. Power delays, cost inflation, and cap rate risk require conservative underwriting disciplines on every deal we touch. The dot-com comparison tells us that infrastructure endures — but only the assets with institutional-grade tenants held their value. The ones without didn't.
And our next move needs to be decisive. The window for positioning in Eastern Ontario before land prices reflect the data centre premium is approximately 12 to 18 months. That is not a lot of time.
The three things I'm recommending we do immediately: commission an off-market site mapping exercise along the 401 corridor, begin building the power advisory expertise we currently lack, and start publishing quarterly Eastern Ontario data centre market data to establish research leadership in this corridor before anyone else does.
The firms that win in this cycle will be the ones that got ahead of the market, built the expertise, and had the discipline to say no to the deals that didn't meet the underwriting bar. That's the position I want us to be in.
I'm happy to go deeper on any part of this — what questions do you have?"
[End with a direct question to the room. Don't just stop talking — invite engagement. Common questions: 'Who are the specific hyperscalers you think are most likely to move to Eastern Ontario?' (answer: Microsoft has been most active in Ontario), 'What's the typical cap rate for Eastern Ontario industrial right now?' (answer: 5.5-6.5% range for standard industrial; data centre premium pricing is still forming), 'How does this interact with our existing GTA industrial coverage?' (answer: Eastern Ontario is additive, not cannibalizing)]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D7A5F"/>
          </a:solidFill>
          <a:ln w="12700">
            <a:solidFill>
              <a:srgbClr val="0D7A5F"/>
            </a:solidFill>
            <a:prstDash val="solid"/>
          </a:ln>
        </p:spPr>
      </p:sp>
      <p:sp>
        <p:nvSpPr>
          <p:cNvPr id="3" name="Text 1"/>
          <p:cNvSpPr/>
          <p:nvPr/>
        </p:nvSpPr>
        <p:spPr>
          <a:xfrm>
            <a:off x="164592" y="365760"/>
            <a:ext cx="2596896" cy="347472"/>
          </a:xfrm>
          <a:prstGeom prst="rect">
            <a:avLst/>
          </a:prstGeom>
          <a:noFill/>
          <a:ln/>
        </p:spPr>
        <p:txBody>
          <a:bodyPr wrap="square" lIns="0" tIns="0" rIns="0" bIns="0" rtlCol="0" anchor="ctr"/>
          <a:lstStyle/>
          <a:p>
            <a:pPr algn="l" indent="0" marL="0">
              <a:buNone/>
            </a:pPr>
            <a:r>
              <a:rPr lang="en-US" sz="1100" b="1" spc="400" kern="0" dirty="0">
                <a:solidFill>
                  <a:srgbClr val="FFFFFF"/>
                </a:solidFill>
                <a:latin typeface="Calibri" pitchFamily="34" charset="0"/>
                <a:ea typeface="Calibri" pitchFamily="34" charset="-122"/>
                <a:cs typeface="Calibri" pitchFamily="34" charset="-120"/>
              </a:rPr>
              <a:t>DATA CENTRES</a:t>
            </a:r>
            <a:endParaRPr lang="en-US" sz="1100" dirty="0"/>
          </a:p>
        </p:txBody>
      </p:sp>
      <p:sp>
        <p:nvSpPr>
          <p:cNvPr id="4" name="Text 2"/>
          <p:cNvSpPr/>
          <p:nvPr/>
        </p:nvSpPr>
        <p:spPr>
          <a:xfrm>
            <a:off x="164592" y="777240"/>
            <a:ext cx="2596896" cy="347472"/>
          </a:xfrm>
          <a:prstGeom prst="rect">
            <a:avLst/>
          </a:prstGeom>
          <a:noFill/>
          <a:ln/>
        </p:spPr>
        <p:txBody>
          <a:bodyPr wrap="square" lIns="0" tIns="0" rIns="0" bIns="0" rtlCol="0" anchor="ctr"/>
          <a:lstStyle/>
          <a:p>
            <a:pPr algn="l" indent="0" marL="0">
              <a:buNone/>
            </a:pPr>
            <a:r>
              <a:rPr lang="en-US" sz="1100" spc="300" kern="0" dirty="0">
                <a:solidFill>
                  <a:srgbClr val="A8D5C7"/>
                </a:solidFill>
                <a:latin typeface="Calibri" pitchFamily="34" charset="0"/>
                <a:ea typeface="Calibri" pitchFamily="34" charset="-122"/>
                <a:cs typeface="Calibri" pitchFamily="34" charset="-120"/>
              </a:rPr>
              <a:t>EASTERN ONTARIO</a:t>
            </a:r>
            <a:endParaRPr lang="en-US" sz="1100" dirty="0"/>
          </a:p>
        </p:txBody>
      </p:sp>
      <p:sp>
        <p:nvSpPr>
          <p:cNvPr id="5" name="Shape 3"/>
          <p:cNvSpPr/>
          <p:nvPr/>
        </p:nvSpPr>
        <p:spPr>
          <a:xfrm>
            <a:off x="164592" y="1207008"/>
            <a:ext cx="2286000" cy="36576"/>
          </a:xfrm>
          <a:prstGeom prst="rect">
            <a:avLst/>
          </a:prstGeom>
          <a:solidFill>
            <a:srgbClr val="FFFFFF"/>
          </a:solidFill>
          <a:ln w="12700">
            <a:solidFill>
              <a:srgbClr val="FFFFFF"/>
            </a:solidFill>
            <a:prstDash val="solid"/>
          </a:ln>
        </p:spPr>
      </p:sp>
      <p:sp>
        <p:nvSpPr>
          <p:cNvPr id="6" name="Text 4"/>
          <p:cNvSpPr/>
          <p:nvPr/>
        </p:nvSpPr>
        <p:spPr>
          <a:xfrm>
            <a:off x="164592" y="1417320"/>
            <a:ext cx="2596896"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312 MW</a:t>
            </a:r>
            <a:endParaRPr lang="en-US" sz="2800" dirty="0"/>
          </a:p>
        </p:txBody>
      </p:sp>
      <p:sp>
        <p:nvSpPr>
          <p:cNvPr id="7" name="Text 5"/>
          <p:cNvSpPr/>
          <p:nvPr/>
        </p:nvSpPr>
        <p:spPr>
          <a:xfrm>
            <a:off x="164592" y="1892808"/>
            <a:ext cx="2596896" cy="219456"/>
          </a:xfrm>
          <a:prstGeom prst="rect">
            <a:avLst/>
          </a:prstGeom>
          <a:noFill/>
          <a:ln/>
        </p:spPr>
        <p:txBody>
          <a:bodyPr wrap="square" lIns="0" tIns="0" rIns="0" bIns="0" rtlCol="0" anchor="ctr"/>
          <a:lstStyle/>
          <a:p>
            <a:pPr algn="l" indent="0" marL="0">
              <a:buNone/>
            </a:pPr>
            <a:r>
              <a:rPr lang="en-US" sz="950" dirty="0">
                <a:solidFill>
                  <a:srgbClr val="A8D5C7"/>
                </a:solidFill>
                <a:latin typeface="Calibri" pitchFamily="34" charset="0"/>
                <a:ea typeface="Calibri" pitchFamily="34" charset="-122"/>
                <a:cs typeface="Calibri" pitchFamily="34" charset="-120"/>
              </a:rPr>
              <a:t>Toronto Operational</a:t>
            </a:r>
            <a:endParaRPr lang="en-US" sz="950" dirty="0"/>
          </a:p>
        </p:txBody>
      </p:sp>
      <p:sp>
        <p:nvSpPr>
          <p:cNvPr id="8" name="Text 6"/>
          <p:cNvSpPr/>
          <p:nvPr/>
        </p:nvSpPr>
        <p:spPr>
          <a:xfrm>
            <a:off x="164592" y="2313432"/>
            <a:ext cx="2596896"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596 MW</a:t>
            </a:r>
            <a:endParaRPr lang="en-US" sz="2800" dirty="0"/>
          </a:p>
        </p:txBody>
      </p:sp>
      <p:sp>
        <p:nvSpPr>
          <p:cNvPr id="9" name="Text 7"/>
          <p:cNvSpPr/>
          <p:nvPr/>
        </p:nvSpPr>
        <p:spPr>
          <a:xfrm>
            <a:off x="164592" y="2788920"/>
            <a:ext cx="2596896" cy="219456"/>
          </a:xfrm>
          <a:prstGeom prst="rect">
            <a:avLst/>
          </a:prstGeom>
          <a:noFill/>
          <a:ln/>
        </p:spPr>
        <p:txBody>
          <a:bodyPr wrap="square" lIns="0" tIns="0" rIns="0" bIns="0" rtlCol="0" anchor="ctr"/>
          <a:lstStyle/>
          <a:p>
            <a:pPr algn="l" indent="0" marL="0">
              <a:buNone/>
            </a:pPr>
            <a:r>
              <a:rPr lang="en-US" sz="950" dirty="0">
                <a:solidFill>
                  <a:srgbClr val="A8D5C7"/>
                </a:solidFill>
                <a:latin typeface="Calibri" pitchFamily="34" charset="0"/>
                <a:ea typeface="Calibri" pitchFamily="34" charset="-122"/>
                <a:cs typeface="Calibri" pitchFamily="34" charset="-120"/>
              </a:rPr>
              <a:t>Pipeline</a:t>
            </a:r>
            <a:endParaRPr lang="en-US" sz="950" dirty="0"/>
          </a:p>
        </p:txBody>
      </p:sp>
      <p:sp>
        <p:nvSpPr>
          <p:cNvPr id="10" name="Text 8"/>
          <p:cNvSpPr/>
          <p:nvPr/>
        </p:nvSpPr>
        <p:spPr>
          <a:xfrm>
            <a:off x="164592" y="3209544"/>
            <a:ext cx="2596896"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94.5%</a:t>
            </a:r>
            <a:endParaRPr lang="en-US" sz="2800" dirty="0"/>
          </a:p>
        </p:txBody>
      </p:sp>
      <p:sp>
        <p:nvSpPr>
          <p:cNvPr id="11" name="Text 9"/>
          <p:cNvSpPr/>
          <p:nvPr/>
        </p:nvSpPr>
        <p:spPr>
          <a:xfrm>
            <a:off x="164592" y="3685032"/>
            <a:ext cx="2596896" cy="219456"/>
          </a:xfrm>
          <a:prstGeom prst="rect">
            <a:avLst/>
          </a:prstGeom>
          <a:noFill/>
          <a:ln/>
        </p:spPr>
        <p:txBody>
          <a:bodyPr wrap="square" lIns="0" tIns="0" rIns="0" bIns="0" rtlCol="0" anchor="ctr"/>
          <a:lstStyle/>
          <a:p>
            <a:pPr algn="l" indent="0" marL="0">
              <a:buNone/>
            </a:pPr>
            <a:r>
              <a:rPr lang="en-US" sz="950" dirty="0">
                <a:solidFill>
                  <a:srgbClr val="A8D5C7"/>
                </a:solidFill>
                <a:latin typeface="Calibri" pitchFamily="34" charset="0"/>
                <a:ea typeface="Calibri" pitchFamily="34" charset="-122"/>
                <a:cs typeface="Calibri" pitchFamily="34" charset="-120"/>
              </a:rPr>
              <a:t>Pre-committed</a:t>
            </a:r>
            <a:endParaRPr lang="en-US" sz="950" dirty="0"/>
          </a:p>
        </p:txBody>
      </p:sp>
      <p:sp>
        <p:nvSpPr>
          <p:cNvPr id="12" name="Text 10"/>
          <p:cNvSpPr/>
          <p:nvPr/>
        </p:nvSpPr>
        <p:spPr>
          <a:xfrm>
            <a:off x="3154680" y="457200"/>
            <a:ext cx="5760720"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The Data Centre</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Demand Paradox</a:t>
            </a:r>
            <a:endParaRPr lang="en-US" sz="3600" dirty="0"/>
          </a:p>
        </p:txBody>
      </p:sp>
      <p:sp>
        <p:nvSpPr>
          <p:cNvPr id="13" name="Text 11"/>
          <p:cNvSpPr/>
          <p:nvPr/>
        </p:nvSpPr>
        <p:spPr>
          <a:xfrm>
            <a:off x="3154680" y="1920240"/>
            <a:ext cx="5760720" cy="475488"/>
          </a:xfrm>
          <a:prstGeom prst="rect">
            <a:avLst/>
          </a:prstGeom>
          <a:noFill/>
          <a:ln/>
        </p:spPr>
        <p:txBody>
          <a:bodyPr wrap="square" lIns="0" tIns="0" rIns="0" bIns="0" rtlCol="0" anchor="t"/>
          <a:lstStyle/>
          <a:p>
            <a:pPr indent="0" marL="0">
              <a:buNone/>
            </a:pPr>
            <a:r>
              <a:rPr lang="en-US" sz="1600" dirty="0">
                <a:solidFill>
                  <a:srgbClr val="9BB5D8"/>
                </a:solidFill>
                <a:latin typeface="Calibri" pitchFamily="34" charset="0"/>
                <a:ea typeface="Calibri" pitchFamily="34" charset="-122"/>
                <a:cs typeface="Calibri" pitchFamily="34" charset="-120"/>
              </a:rPr>
              <a:t>Structural Growth, Capital Risk &amp; the Eastern Ontario Opportunity</a:t>
            </a:r>
            <a:endParaRPr lang="en-US" sz="1600" dirty="0"/>
          </a:p>
        </p:txBody>
      </p:sp>
      <p:sp>
        <p:nvSpPr>
          <p:cNvPr id="14" name="Shape 12"/>
          <p:cNvSpPr/>
          <p:nvPr/>
        </p:nvSpPr>
        <p:spPr>
          <a:xfrm>
            <a:off x="3154680" y="2487168"/>
            <a:ext cx="5303520" cy="36576"/>
          </a:xfrm>
          <a:prstGeom prst="rect">
            <a:avLst/>
          </a:prstGeom>
          <a:solidFill>
            <a:srgbClr val="0D7A5F"/>
          </a:solidFill>
          <a:ln w="12700">
            <a:solidFill>
              <a:srgbClr val="0D7A5F"/>
            </a:solidFill>
            <a:prstDash val="solid"/>
          </a:ln>
        </p:spPr>
      </p:sp>
      <p:sp>
        <p:nvSpPr>
          <p:cNvPr id="15" name="Text 13"/>
          <p:cNvSpPr/>
          <p:nvPr/>
        </p:nvSpPr>
        <p:spPr>
          <a:xfrm>
            <a:off x="3154680" y="2633472"/>
            <a:ext cx="5760720" cy="36576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Amanda Dolan, Research Analyst  |  March 2026</a:t>
            </a:r>
            <a:endParaRPr lang="en-US" sz="1100" dirty="0"/>
          </a:p>
        </p:txBody>
      </p:sp>
      <p:sp>
        <p:nvSpPr>
          <p:cNvPr id="16" name="Text 14"/>
          <p:cNvSpPr/>
          <p:nvPr/>
        </p:nvSpPr>
        <p:spPr>
          <a:xfrm>
            <a:off x="3154680" y="4732020"/>
            <a:ext cx="5760720" cy="274320"/>
          </a:xfrm>
          <a:prstGeom prst="rect">
            <a:avLst/>
          </a:prstGeom>
          <a:noFill/>
          <a:ln/>
        </p:spPr>
        <p:txBody>
          <a:bodyPr wrap="square" lIns="0" tIns="0" rIns="0" bIns="0" rtlCol="0" anchor="ctr"/>
          <a:lstStyle/>
          <a:p>
            <a:pPr indent="0" marL="0">
              <a:buNone/>
            </a:pPr>
            <a:r>
              <a:rPr lang="en-US" sz="800" i="1" dirty="0">
                <a:solidFill>
                  <a:srgbClr val="5A6B7A"/>
                </a:solidFill>
                <a:latin typeface="Calibri" pitchFamily="34" charset="0"/>
                <a:ea typeface="Calibri" pitchFamily="34" charset="-122"/>
                <a:cs typeface="Calibri" pitchFamily="34" charset="-120"/>
              </a:rPr>
              <a:t>For internal discussion purposes only. Based on publicly available research and market data.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Today's Agenda</a:t>
            </a:r>
            <a:endParaRPr lang="en-US" sz="2400" dirty="0"/>
          </a:p>
        </p:txBody>
      </p:sp>
      <p:sp>
        <p:nvSpPr>
          <p:cNvPr id="4" name="Shape 2"/>
          <p:cNvSpPr/>
          <p:nvPr/>
        </p:nvSpPr>
        <p:spPr>
          <a:xfrm>
            <a:off x="347472" y="749808"/>
            <a:ext cx="8503920" cy="27432"/>
          </a:xfrm>
          <a:prstGeom prst="rect">
            <a:avLst/>
          </a:prstGeom>
          <a:solidFill>
            <a:srgbClr val="E2E8EF"/>
          </a:solidFill>
          <a:ln w="12700">
            <a:solidFill>
              <a:srgbClr val="E2E8EF"/>
            </a:solidFill>
            <a:prstDash val="solid"/>
          </a:ln>
        </p:spPr>
      </p:sp>
      <p:sp>
        <p:nvSpPr>
          <p:cNvPr id="5" name="Shape 3"/>
          <p:cNvSpPr/>
          <p:nvPr/>
        </p:nvSpPr>
        <p:spPr>
          <a:xfrm>
            <a:off x="347472" y="960120"/>
            <a:ext cx="8503920" cy="713232"/>
          </a:xfrm>
          <a:prstGeom prst="rect">
            <a:avLst/>
          </a:prstGeom>
          <a:solidFill>
            <a:srgbClr val="F4F6F8"/>
          </a:solidFill>
          <a:ln w="6350">
            <a:solidFill>
              <a:srgbClr val="E2E8EF"/>
            </a:solidFill>
            <a:prstDash val="solid"/>
          </a:ln>
        </p:spPr>
      </p:sp>
      <p:sp>
        <p:nvSpPr>
          <p:cNvPr id="6" name="Shape 4"/>
          <p:cNvSpPr/>
          <p:nvPr/>
        </p:nvSpPr>
        <p:spPr>
          <a:xfrm>
            <a:off x="347472" y="960120"/>
            <a:ext cx="548640" cy="713232"/>
          </a:xfrm>
          <a:prstGeom prst="rect">
            <a:avLst/>
          </a:prstGeom>
          <a:solidFill>
            <a:srgbClr val="0D7A5F"/>
          </a:solidFill>
          <a:ln w="12700">
            <a:solidFill>
              <a:srgbClr val="0D7A5F"/>
            </a:solidFill>
            <a:prstDash val="solid"/>
          </a:ln>
        </p:spPr>
      </p:sp>
      <p:sp>
        <p:nvSpPr>
          <p:cNvPr id="7" name="Text 5"/>
          <p:cNvSpPr/>
          <p:nvPr/>
        </p:nvSpPr>
        <p:spPr>
          <a:xfrm>
            <a:off x="347472" y="960120"/>
            <a:ext cx="548640" cy="7132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Shape 6"/>
          <p:cNvSpPr/>
          <p:nvPr/>
        </p:nvSpPr>
        <p:spPr>
          <a:xfrm>
            <a:off x="1060704" y="1115568"/>
            <a:ext cx="402336" cy="402336"/>
          </a:xfrm>
          <a:prstGeom prst="ellipse">
            <a:avLst/>
          </a:prstGeom>
          <a:solidFill>
            <a:srgbClr val="0D7A5F"/>
          </a:solidFill>
          <a:ln w="12700">
            <a:solidFill>
              <a:srgbClr val="0D7A5F"/>
            </a:solidFill>
            <a:prstDash val="solid"/>
          </a:ln>
        </p:spPr>
      </p:sp>
      <p:pic>
        <p:nvPicPr>
          <p:cNvPr id="9" name="Image 0" descr="preencoded.png">    </p:cNvPr>
          <p:cNvPicPr>
            <a:picLocks noChangeAspect="1"/>
          </p:cNvPicPr>
          <p:nvPr/>
        </p:nvPicPr>
        <p:blipFill>
          <a:blip r:embed="rId1"/>
          <a:stretch>
            <a:fillRect/>
          </a:stretch>
        </p:blipFill>
        <p:spPr>
          <a:xfrm>
            <a:off x="1156259" y="1211123"/>
            <a:ext cx="211226" cy="211226"/>
          </a:xfrm>
          <a:prstGeom prst="rect">
            <a:avLst/>
          </a:prstGeom>
        </p:spPr>
      </p:pic>
      <p:sp>
        <p:nvSpPr>
          <p:cNvPr id="10" name="Shape 7"/>
          <p:cNvSpPr/>
          <p:nvPr/>
        </p:nvSpPr>
        <p:spPr>
          <a:xfrm>
            <a:off x="1060704" y="1115568"/>
            <a:ext cx="402336" cy="402336"/>
          </a:xfrm>
          <a:prstGeom prst="ellipse">
            <a:avLst/>
          </a:prstGeom>
          <a:solidFill>
            <a:srgbClr val="0D7A5F"/>
          </a:solidFill>
          <a:ln w="12700">
            <a:solidFill>
              <a:srgbClr val="0D7A5F"/>
            </a:solidFill>
            <a:prstDash val="solid"/>
          </a:ln>
        </p:spPr>
      </p:sp>
      <p:pic>
        <p:nvPicPr>
          <p:cNvPr id="11" name="Image 1" descr="preencoded.png">    </p:cNvPr>
          <p:cNvPicPr>
            <a:picLocks noChangeAspect="1"/>
          </p:cNvPicPr>
          <p:nvPr/>
        </p:nvPicPr>
        <p:blipFill>
          <a:blip r:embed="rId2"/>
          <a:stretch>
            <a:fillRect/>
          </a:stretch>
        </p:blipFill>
        <p:spPr>
          <a:xfrm>
            <a:off x="1133856" y="1188720"/>
            <a:ext cx="256032" cy="256032"/>
          </a:xfrm>
          <a:prstGeom prst="rect">
            <a:avLst/>
          </a:prstGeom>
        </p:spPr>
      </p:pic>
      <p:sp>
        <p:nvSpPr>
          <p:cNvPr id="12" name="Text 8"/>
          <p:cNvSpPr/>
          <p:nvPr/>
        </p:nvSpPr>
        <p:spPr>
          <a:xfrm>
            <a:off x="1783080" y="1051560"/>
            <a:ext cx="6858000" cy="292608"/>
          </a:xfrm>
          <a:prstGeom prst="rect">
            <a:avLst/>
          </a:prstGeom>
          <a:noFill/>
          <a:ln/>
        </p:spPr>
        <p:txBody>
          <a:bodyPr wrap="square" lIns="0" tIns="0" rIns="0" bIns="0"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The Demand Case</a:t>
            </a:r>
            <a:endParaRPr lang="en-US" sz="1300" dirty="0"/>
          </a:p>
        </p:txBody>
      </p:sp>
      <p:sp>
        <p:nvSpPr>
          <p:cNvPr id="13" name="Text 9"/>
          <p:cNvSpPr/>
          <p:nvPr/>
        </p:nvSpPr>
        <p:spPr>
          <a:xfrm>
            <a:off x="1783080" y="1344168"/>
            <a:ext cx="6858000" cy="256032"/>
          </a:xfrm>
          <a:prstGeom prst="rect">
            <a:avLst/>
          </a:prstGeom>
          <a:noFill/>
          <a:ln/>
        </p:spPr>
        <p:txBody>
          <a:bodyPr wrap="square" lIns="0" tIns="0" rIns="0" bIns="0" rtlCol="0" anchor="t"/>
          <a:lstStyle/>
          <a:p>
            <a:pPr indent="0" marL="0">
              <a:buNone/>
            </a:pPr>
            <a:r>
              <a:rPr lang="en-US" sz="1000" i="1" dirty="0">
                <a:solidFill>
                  <a:srgbClr val="64748B"/>
                </a:solidFill>
                <a:latin typeface="Calibri" pitchFamily="34" charset="0"/>
                <a:ea typeface="Calibri" pitchFamily="34" charset="-122"/>
                <a:cs typeface="Calibri" pitchFamily="34" charset="-120"/>
              </a:rPr>
              <a:t>AI supercycle, Ontario market metrics, pipeline depth</a:t>
            </a:r>
            <a:endParaRPr lang="en-US" sz="1000" dirty="0"/>
          </a:p>
        </p:txBody>
      </p:sp>
      <p:sp>
        <p:nvSpPr>
          <p:cNvPr id="14" name="Shape 10"/>
          <p:cNvSpPr/>
          <p:nvPr/>
        </p:nvSpPr>
        <p:spPr>
          <a:xfrm>
            <a:off x="347472" y="1719072"/>
            <a:ext cx="8503920" cy="713232"/>
          </a:xfrm>
          <a:prstGeom prst="rect">
            <a:avLst/>
          </a:prstGeom>
          <a:solidFill>
            <a:srgbClr val="FFFFFF"/>
          </a:solidFill>
          <a:ln w="6350">
            <a:solidFill>
              <a:srgbClr val="E2E8EF"/>
            </a:solidFill>
            <a:prstDash val="solid"/>
          </a:ln>
        </p:spPr>
      </p:sp>
      <p:sp>
        <p:nvSpPr>
          <p:cNvPr id="15" name="Shape 11"/>
          <p:cNvSpPr/>
          <p:nvPr/>
        </p:nvSpPr>
        <p:spPr>
          <a:xfrm>
            <a:off x="347472" y="1719072"/>
            <a:ext cx="548640" cy="713232"/>
          </a:xfrm>
          <a:prstGeom prst="rect">
            <a:avLst/>
          </a:prstGeom>
          <a:solidFill>
            <a:srgbClr val="2E6DA4"/>
          </a:solidFill>
          <a:ln w="12700">
            <a:solidFill>
              <a:srgbClr val="2E6DA4"/>
            </a:solidFill>
            <a:prstDash val="solid"/>
          </a:ln>
        </p:spPr>
      </p:sp>
      <p:sp>
        <p:nvSpPr>
          <p:cNvPr id="16" name="Text 12"/>
          <p:cNvSpPr/>
          <p:nvPr/>
        </p:nvSpPr>
        <p:spPr>
          <a:xfrm>
            <a:off x="347472" y="1719072"/>
            <a:ext cx="548640" cy="7132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7" name="Shape 13"/>
          <p:cNvSpPr/>
          <p:nvPr/>
        </p:nvSpPr>
        <p:spPr>
          <a:xfrm>
            <a:off x="1060704" y="1874520"/>
            <a:ext cx="402336" cy="402336"/>
          </a:xfrm>
          <a:prstGeom prst="ellipse">
            <a:avLst/>
          </a:prstGeom>
          <a:solidFill>
            <a:srgbClr val="0D7A5F"/>
          </a:solidFill>
          <a:ln w="12700">
            <a:solidFill>
              <a:srgbClr val="0D7A5F"/>
            </a:solidFill>
            <a:prstDash val="solid"/>
          </a:ln>
        </p:spPr>
      </p:sp>
      <p:pic>
        <p:nvPicPr>
          <p:cNvPr id="18" name="Image 2" descr="preencoded.png">    </p:cNvPr>
          <p:cNvPicPr>
            <a:picLocks noChangeAspect="1"/>
          </p:cNvPicPr>
          <p:nvPr/>
        </p:nvPicPr>
        <p:blipFill>
          <a:blip r:embed="rId3"/>
          <a:stretch>
            <a:fillRect/>
          </a:stretch>
        </p:blipFill>
        <p:spPr>
          <a:xfrm>
            <a:off x="1156259" y="1970075"/>
            <a:ext cx="211226" cy="211226"/>
          </a:xfrm>
          <a:prstGeom prst="rect">
            <a:avLst/>
          </a:prstGeom>
        </p:spPr>
      </p:pic>
      <p:sp>
        <p:nvSpPr>
          <p:cNvPr id="19" name="Shape 14"/>
          <p:cNvSpPr/>
          <p:nvPr/>
        </p:nvSpPr>
        <p:spPr>
          <a:xfrm>
            <a:off x="1060704" y="1874520"/>
            <a:ext cx="402336" cy="402336"/>
          </a:xfrm>
          <a:prstGeom prst="ellipse">
            <a:avLst/>
          </a:prstGeom>
          <a:solidFill>
            <a:srgbClr val="2E6DA4"/>
          </a:solidFill>
          <a:ln w="12700">
            <a:solidFill>
              <a:srgbClr val="2E6DA4"/>
            </a:solidFill>
            <a:prstDash val="solid"/>
          </a:ln>
        </p:spPr>
      </p:sp>
      <p:pic>
        <p:nvPicPr>
          <p:cNvPr id="20" name="Image 3" descr="preencoded.png">    </p:cNvPr>
          <p:cNvPicPr>
            <a:picLocks noChangeAspect="1"/>
          </p:cNvPicPr>
          <p:nvPr/>
        </p:nvPicPr>
        <p:blipFill>
          <a:blip r:embed="rId4"/>
          <a:stretch>
            <a:fillRect/>
          </a:stretch>
        </p:blipFill>
        <p:spPr>
          <a:xfrm>
            <a:off x="1133856" y="1947672"/>
            <a:ext cx="256032" cy="256032"/>
          </a:xfrm>
          <a:prstGeom prst="rect">
            <a:avLst/>
          </a:prstGeom>
        </p:spPr>
      </p:pic>
      <p:sp>
        <p:nvSpPr>
          <p:cNvPr id="21" name="Text 15"/>
          <p:cNvSpPr/>
          <p:nvPr/>
        </p:nvSpPr>
        <p:spPr>
          <a:xfrm>
            <a:off x="1783080" y="1810512"/>
            <a:ext cx="6858000" cy="292608"/>
          </a:xfrm>
          <a:prstGeom prst="rect">
            <a:avLst/>
          </a:prstGeom>
          <a:noFill/>
          <a:ln/>
        </p:spPr>
        <p:txBody>
          <a:bodyPr wrap="square" lIns="0" tIns="0" rIns="0" bIns="0"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Eastern Ontario</a:t>
            </a:r>
            <a:endParaRPr lang="en-US" sz="1300" dirty="0"/>
          </a:p>
        </p:txBody>
      </p:sp>
      <p:sp>
        <p:nvSpPr>
          <p:cNvPr id="22" name="Text 16"/>
          <p:cNvSpPr/>
          <p:nvPr/>
        </p:nvSpPr>
        <p:spPr>
          <a:xfrm>
            <a:off x="1783080" y="2103120"/>
            <a:ext cx="6858000" cy="256032"/>
          </a:xfrm>
          <a:prstGeom prst="rect">
            <a:avLst/>
          </a:prstGeom>
          <a:noFill/>
          <a:ln/>
        </p:spPr>
        <p:txBody>
          <a:bodyPr wrap="square" lIns="0" tIns="0" rIns="0" bIns="0" rtlCol="0" anchor="t"/>
          <a:lstStyle/>
          <a:p>
            <a:pPr indent="0" marL="0">
              <a:buNone/>
            </a:pPr>
            <a:r>
              <a:rPr lang="en-US" sz="1000" i="1" dirty="0">
                <a:solidFill>
                  <a:srgbClr val="64748B"/>
                </a:solidFill>
                <a:latin typeface="Calibri" pitchFamily="34" charset="0"/>
                <a:ea typeface="Calibri" pitchFamily="34" charset="-122"/>
                <a:cs typeface="Calibri" pitchFamily="34" charset="-120"/>
              </a:rPr>
              <a:t>Power, water, land — why the corridor matters now</a:t>
            </a:r>
            <a:endParaRPr lang="en-US" sz="1000" dirty="0"/>
          </a:p>
        </p:txBody>
      </p:sp>
      <p:sp>
        <p:nvSpPr>
          <p:cNvPr id="23" name="Shape 17"/>
          <p:cNvSpPr/>
          <p:nvPr/>
        </p:nvSpPr>
        <p:spPr>
          <a:xfrm>
            <a:off x="347472" y="2478024"/>
            <a:ext cx="8503920" cy="713232"/>
          </a:xfrm>
          <a:prstGeom prst="rect">
            <a:avLst/>
          </a:prstGeom>
          <a:solidFill>
            <a:srgbClr val="F4F6F8"/>
          </a:solidFill>
          <a:ln w="6350">
            <a:solidFill>
              <a:srgbClr val="E2E8EF"/>
            </a:solidFill>
            <a:prstDash val="solid"/>
          </a:ln>
        </p:spPr>
      </p:sp>
      <p:sp>
        <p:nvSpPr>
          <p:cNvPr id="24" name="Shape 18"/>
          <p:cNvSpPr/>
          <p:nvPr/>
        </p:nvSpPr>
        <p:spPr>
          <a:xfrm>
            <a:off x="347472" y="2478024"/>
            <a:ext cx="548640" cy="713232"/>
          </a:xfrm>
          <a:prstGeom prst="rect">
            <a:avLst/>
          </a:prstGeom>
          <a:solidFill>
            <a:srgbClr val="B83232"/>
          </a:solidFill>
          <a:ln w="12700">
            <a:solidFill>
              <a:srgbClr val="B83232"/>
            </a:solidFill>
            <a:prstDash val="solid"/>
          </a:ln>
        </p:spPr>
      </p:sp>
      <p:sp>
        <p:nvSpPr>
          <p:cNvPr id="25" name="Text 19"/>
          <p:cNvSpPr/>
          <p:nvPr/>
        </p:nvSpPr>
        <p:spPr>
          <a:xfrm>
            <a:off x="347472" y="2478024"/>
            <a:ext cx="548640" cy="7132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6" name="Shape 20"/>
          <p:cNvSpPr/>
          <p:nvPr/>
        </p:nvSpPr>
        <p:spPr>
          <a:xfrm>
            <a:off x="1060704" y="2633472"/>
            <a:ext cx="402336" cy="402336"/>
          </a:xfrm>
          <a:prstGeom prst="ellipse">
            <a:avLst/>
          </a:prstGeom>
          <a:solidFill>
            <a:srgbClr val="0D7A5F"/>
          </a:solidFill>
          <a:ln w="12700">
            <a:solidFill>
              <a:srgbClr val="0D7A5F"/>
            </a:solidFill>
            <a:prstDash val="solid"/>
          </a:ln>
        </p:spPr>
      </p:sp>
      <p:pic>
        <p:nvPicPr>
          <p:cNvPr id="27" name="Image 4" descr="preencoded.png">    </p:cNvPr>
          <p:cNvPicPr>
            <a:picLocks noChangeAspect="1"/>
          </p:cNvPicPr>
          <p:nvPr/>
        </p:nvPicPr>
        <p:blipFill>
          <a:blip r:embed="rId5"/>
          <a:stretch>
            <a:fillRect/>
          </a:stretch>
        </p:blipFill>
        <p:spPr>
          <a:xfrm>
            <a:off x="1156259" y="2729027"/>
            <a:ext cx="211226" cy="211226"/>
          </a:xfrm>
          <a:prstGeom prst="rect">
            <a:avLst/>
          </a:prstGeom>
        </p:spPr>
      </p:pic>
      <p:sp>
        <p:nvSpPr>
          <p:cNvPr id="28" name="Shape 21"/>
          <p:cNvSpPr/>
          <p:nvPr/>
        </p:nvSpPr>
        <p:spPr>
          <a:xfrm>
            <a:off x="1060704" y="2633472"/>
            <a:ext cx="402336" cy="402336"/>
          </a:xfrm>
          <a:prstGeom prst="ellipse">
            <a:avLst/>
          </a:prstGeom>
          <a:solidFill>
            <a:srgbClr val="B83232"/>
          </a:solidFill>
          <a:ln w="12700">
            <a:solidFill>
              <a:srgbClr val="B83232"/>
            </a:solidFill>
            <a:prstDash val="solid"/>
          </a:ln>
        </p:spPr>
      </p:sp>
      <p:pic>
        <p:nvPicPr>
          <p:cNvPr id="29" name="Image 5" descr="preencoded.png">    </p:cNvPr>
          <p:cNvPicPr>
            <a:picLocks noChangeAspect="1"/>
          </p:cNvPicPr>
          <p:nvPr/>
        </p:nvPicPr>
        <p:blipFill>
          <a:blip r:embed="rId6"/>
          <a:stretch>
            <a:fillRect/>
          </a:stretch>
        </p:blipFill>
        <p:spPr>
          <a:xfrm>
            <a:off x="1133856" y="2706624"/>
            <a:ext cx="256032" cy="256032"/>
          </a:xfrm>
          <a:prstGeom prst="rect">
            <a:avLst/>
          </a:prstGeom>
        </p:spPr>
      </p:pic>
      <p:sp>
        <p:nvSpPr>
          <p:cNvPr id="30" name="Text 22"/>
          <p:cNvSpPr/>
          <p:nvPr/>
        </p:nvSpPr>
        <p:spPr>
          <a:xfrm>
            <a:off x="1783080" y="2569464"/>
            <a:ext cx="6858000" cy="292608"/>
          </a:xfrm>
          <a:prstGeom prst="rect">
            <a:avLst/>
          </a:prstGeom>
          <a:noFill/>
          <a:ln/>
        </p:spPr>
        <p:txBody>
          <a:bodyPr wrap="square" lIns="0" tIns="0" rIns="0" bIns="0"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The Risk Landscape</a:t>
            </a:r>
            <a:endParaRPr lang="en-US" sz="1300" dirty="0"/>
          </a:p>
        </p:txBody>
      </p:sp>
      <p:sp>
        <p:nvSpPr>
          <p:cNvPr id="31" name="Text 23"/>
          <p:cNvSpPr/>
          <p:nvPr/>
        </p:nvSpPr>
        <p:spPr>
          <a:xfrm>
            <a:off x="1783080" y="2862072"/>
            <a:ext cx="6858000" cy="256032"/>
          </a:xfrm>
          <a:prstGeom prst="rect">
            <a:avLst/>
          </a:prstGeom>
          <a:noFill/>
          <a:ln/>
        </p:spPr>
        <p:txBody>
          <a:bodyPr wrap="square" lIns="0" tIns="0" rIns="0" bIns="0" rtlCol="0" anchor="t"/>
          <a:lstStyle/>
          <a:p>
            <a:pPr indent="0" marL="0">
              <a:buNone/>
            </a:pPr>
            <a:r>
              <a:rPr lang="en-US" sz="1000" i="1" dirty="0">
                <a:solidFill>
                  <a:srgbClr val="64748B"/>
                </a:solidFill>
                <a:latin typeface="Calibri" pitchFamily="34" charset="0"/>
                <a:ea typeface="Calibri" pitchFamily="34" charset="-122"/>
                <a:cs typeface="Calibri" pitchFamily="34" charset="-120"/>
              </a:rPr>
              <a:t>Bubble risk, Burry thesis, underwriting discipline</a:t>
            </a:r>
            <a:endParaRPr lang="en-US" sz="1000" dirty="0"/>
          </a:p>
        </p:txBody>
      </p:sp>
      <p:sp>
        <p:nvSpPr>
          <p:cNvPr id="32" name="Shape 24"/>
          <p:cNvSpPr/>
          <p:nvPr/>
        </p:nvSpPr>
        <p:spPr>
          <a:xfrm>
            <a:off x="347472" y="3236976"/>
            <a:ext cx="8503920" cy="713232"/>
          </a:xfrm>
          <a:prstGeom prst="rect">
            <a:avLst/>
          </a:prstGeom>
          <a:solidFill>
            <a:srgbClr val="FFFFFF"/>
          </a:solidFill>
          <a:ln w="6350">
            <a:solidFill>
              <a:srgbClr val="E2E8EF"/>
            </a:solidFill>
            <a:prstDash val="solid"/>
          </a:ln>
        </p:spPr>
      </p:sp>
      <p:sp>
        <p:nvSpPr>
          <p:cNvPr id="33" name="Shape 25"/>
          <p:cNvSpPr/>
          <p:nvPr/>
        </p:nvSpPr>
        <p:spPr>
          <a:xfrm>
            <a:off x="347472" y="3236976"/>
            <a:ext cx="548640" cy="713232"/>
          </a:xfrm>
          <a:prstGeom prst="rect">
            <a:avLst/>
          </a:prstGeom>
          <a:solidFill>
            <a:srgbClr val="C9922A"/>
          </a:solidFill>
          <a:ln w="12700">
            <a:solidFill>
              <a:srgbClr val="C9922A"/>
            </a:solidFill>
            <a:prstDash val="solid"/>
          </a:ln>
        </p:spPr>
      </p:sp>
      <p:sp>
        <p:nvSpPr>
          <p:cNvPr id="34" name="Text 26"/>
          <p:cNvSpPr/>
          <p:nvPr/>
        </p:nvSpPr>
        <p:spPr>
          <a:xfrm>
            <a:off x="347472" y="3236976"/>
            <a:ext cx="548640" cy="7132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35" name="Shape 27"/>
          <p:cNvSpPr/>
          <p:nvPr/>
        </p:nvSpPr>
        <p:spPr>
          <a:xfrm>
            <a:off x="1060704" y="3392424"/>
            <a:ext cx="402336" cy="402336"/>
          </a:xfrm>
          <a:prstGeom prst="ellipse">
            <a:avLst/>
          </a:prstGeom>
          <a:solidFill>
            <a:srgbClr val="0D7A5F"/>
          </a:solidFill>
          <a:ln w="12700">
            <a:solidFill>
              <a:srgbClr val="0D7A5F"/>
            </a:solidFill>
            <a:prstDash val="solid"/>
          </a:ln>
        </p:spPr>
      </p:sp>
      <p:pic>
        <p:nvPicPr>
          <p:cNvPr id="36" name="Image 6" descr="preencoded.png">    </p:cNvPr>
          <p:cNvPicPr>
            <a:picLocks noChangeAspect="1"/>
          </p:cNvPicPr>
          <p:nvPr/>
        </p:nvPicPr>
        <p:blipFill>
          <a:blip r:embed="rId7"/>
          <a:stretch>
            <a:fillRect/>
          </a:stretch>
        </p:blipFill>
        <p:spPr>
          <a:xfrm>
            <a:off x="1156259" y="3487979"/>
            <a:ext cx="211226" cy="211226"/>
          </a:xfrm>
          <a:prstGeom prst="rect">
            <a:avLst/>
          </a:prstGeom>
        </p:spPr>
      </p:pic>
      <p:sp>
        <p:nvSpPr>
          <p:cNvPr id="37" name="Shape 28"/>
          <p:cNvSpPr/>
          <p:nvPr/>
        </p:nvSpPr>
        <p:spPr>
          <a:xfrm>
            <a:off x="1060704" y="3392424"/>
            <a:ext cx="402336" cy="402336"/>
          </a:xfrm>
          <a:prstGeom prst="ellipse">
            <a:avLst/>
          </a:prstGeom>
          <a:solidFill>
            <a:srgbClr val="C9922A"/>
          </a:solidFill>
          <a:ln w="12700">
            <a:solidFill>
              <a:srgbClr val="C9922A"/>
            </a:solidFill>
            <a:prstDash val="solid"/>
          </a:ln>
        </p:spPr>
      </p:sp>
      <p:pic>
        <p:nvPicPr>
          <p:cNvPr id="38" name="Image 7" descr="preencoded.png">    </p:cNvPr>
          <p:cNvPicPr>
            <a:picLocks noChangeAspect="1"/>
          </p:cNvPicPr>
          <p:nvPr/>
        </p:nvPicPr>
        <p:blipFill>
          <a:blip r:embed="rId8"/>
          <a:stretch>
            <a:fillRect/>
          </a:stretch>
        </p:blipFill>
        <p:spPr>
          <a:xfrm>
            <a:off x="1133856" y="3465576"/>
            <a:ext cx="256032" cy="256032"/>
          </a:xfrm>
          <a:prstGeom prst="rect">
            <a:avLst/>
          </a:prstGeom>
        </p:spPr>
      </p:pic>
      <p:sp>
        <p:nvSpPr>
          <p:cNvPr id="39" name="Text 29"/>
          <p:cNvSpPr/>
          <p:nvPr/>
        </p:nvSpPr>
        <p:spPr>
          <a:xfrm>
            <a:off x="1783080" y="3328416"/>
            <a:ext cx="6858000" cy="292608"/>
          </a:xfrm>
          <a:prstGeom prst="rect">
            <a:avLst/>
          </a:prstGeom>
          <a:noFill/>
          <a:ln/>
        </p:spPr>
        <p:txBody>
          <a:bodyPr wrap="square" lIns="0" tIns="0" rIns="0" bIns="0"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Impact to CBRE</a:t>
            </a:r>
            <a:endParaRPr lang="en-US" sz="1300" dirty="0"/>
          </a:p>
        </p:txBody>
      </p:sp>
      <p:sp>
        <p:nvSpPr>
          <p:cNvPr id="40" name="Text 30"/>
          <p:cNvSpPr/>
          <p:nvPr/>
        </p:nvSpPr>
        <p:spPr>
          <a:xfrm>
            <a:off x="1783080" y="3621024"/>
            <a:ext cx="6858000" cy="256032"/>
          </a:xfrm>
          <a:prstGeom prst="rect">
            <a:avLst/>
          </a:prstGeom>
          <a:noFill/>
          <a:ln/>
        </p:spPr>
        <p:txBody>
          <a:bodyPr wrap="square" lIns="0" tIns="0" rIns="0" bIns="0" rtlCol="0" anchor="t"/>
          <a:lstStyle/>
          <a:p>
            <a:pPr indent="0" marL="0">
              <a:buNone/>
            </a:pPr>
            <a:r>
              <a:rPr lang="en-US" sz="1000" i="1" dirty="0">
                <a:solidFill>
                  <a:srgbClr val="64748B"/>
                </a:solidFill>
                <a:latin typeface="Calibri" pitchFamily="34" charset="0"/>
                <a:ea typeface="Calibri" pitchFamily="34" charset="-122"/>
                <a:cs typeface="Calibri" pitchFamily="34" charset="-120"/>
              </a:rPr>
              <a:t>Advisory, fees, client positioning, reputational</a:t>
            </a:r>
            <a:endParaRPr lang="en-US" sz="1000" dirty="0"/>
          </a:p>
        </p:txBody>
      </p:sp>
      <p:sp>
        <p:nvSpPr>
          <p:cNvPr id="41" name="Shape 31"/>
          <p:cNvSpPr/>
          <p:nvPr/>
        </p:nvSpPr>
        <p:spPr>
          <a:xfrm>
            <a:off x="347472" y="3995928"/>
            <a:ext cx="8503920" cy="713232"/>
          </a:xfrm>
          <a:prstGeom prst="rect">
            <a:avLst/>
          </a:prstGeom>
          <a:solidFill>
            <a:srgbClr val="F4F6F8"/>
          </a:solidFill>
          <a:ln w="6350">
            <a:solidFill>
              <a:srgbClr val="E2E8EF"/>
            </a:solidFill>
            <a:prstDash val="solid"/>
          </a:ln>
        </p:spPr>
      </p:sp>
      <p:sp>
        <p:nvSpPr>
          <p:cNvPr id="42" name="Shape 32"/>
          <p:cNvSpPr/>
          <p:nvPr/>
        </p:nvSpPr>
        <p:spPr>
          <a:xfrm>
            <a:off x="347472" y="3995928"/>
            <a:ext cx="548640" cy="713232"/>
          </a:xfrm>
          <a:prstGeom prst="rect">
            <a:avLst/>
          </a:prstGeom>
          <a:solidFill>
            <a:srgbClr val="1B2A4A"/>
          </a:solidFill>
          <a:ln w="12700">
            <a:solidFill>
              <a:srgbClr val="1B2A4A"/>
            </a:solidFill>
            <a:prstDash val="solid"/>
          </a:ln>
        </p:spPr>
      </p:sp>
      <p:sp>
        <p:nvSpPr>
          <p:cNvPr id="43" name="Text 33"/>
          <p:cNvSpPr/>
          <p:nvPr/>
        </p:nvSpPr>
        <p:spPr>
          <a:xfrm>
            <a:off x="347472" y="3995928"/>
            <a:ext cx="548640" cy="7132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44" name="Shape 34"/>
          <p:cNvSpPr/>
          <p:nvPr/>
        </p:nvSpPr>
        <p:spPr>
          <a:xfrm>
            <a:off x="1060704" y="4151376"/>
            <a:ext cx="402336" cy="402336"/>
          </a:xfrm>
          <a:prstGeom prst="ellipse">
            <a:avLst/>
          </a:prstGeom>
          <a:solidFill>
            <a:srgbClr val="0D7A5F"/>
          </a:solidFill>
          <a:ln w="12700">
            <a:solidFill>
              <a:srgbClr val="0D7A5F"/>
            </a:solidFill>
            <a:prstDash val="solid"/>
          </a:ln>
        </p:spPr>
      </p:sp>
      <p:pic>
        <p:nvPicPr>
          <p:cNvPr id="45" name="Image 8" descr="preencoded.png">    </p:cNvPr>
          <p:cNvPicPr>
            <a:picLocks noChangeAspect="1"/>
          </p:cNvPicPr>
          <p:nvPr/>
        </p:nvPicPr>
        <p:blipFill>
          <a:blip r:embed="rId9"/>
          <a:stretch>
            <a:fillRect/>
          </a:stretch>
        </p:blipFill>
        <p:spPr>
          <a:xfrm>
            <a:off x="1156259" y="4246931"/>
            <a:ext cx="211226" cy="211226"/>
          </a:xfrm>
          <a:prstGeom prst="rect">
            <a:avLst/>
          </a:prstGeom>
        </p:spPr>
      </p:pic>
      <p:sp>
        <p:nvSpPr>
          <p:cNvPr id="46" name="Shape 35"/>
          <p:cNvSpPr/>
          <p:nvPr/>
        </p:nvSpPr>
        <p:spPr>
          <a:xfrm>
            <a:off x="1060704" y="4151376"/>
            <a:ext cx="402336" cy="402336"/>
          </a:xfrm>
          <a:prstGeom prst="ellipse">
            <a:avLst/>
          </a:prstGeom>
          <a:solidFill>
            <a:srgbClr val="1B2A4A"/>
          </a:solidFill>
          <a:ln w="12700">
            <a:solidFill>
              <a:srgbClr val="1B2A4A"/>
            </a:solidFill>
            <a:prstDash val="solid"/>
          </a:ln>
        </p:spPr>
      </p:sp>
      <p:pic>
        <p:nvPicPr>
          <p:cNvPr id="47" name="Image 9" descr="preencoded.png">    </p:cNvPr>
          <p:cNvPicPr>
            <a:picLocks noChangeAspect="1"/>
          </p:cNvPicPr>
          <p:nvPr/>
        </p:nvPicPr>
        <p:blipFill>
          <a:blip r:embed="rId10"/>
          <a:stretch>
            <a:fillRect/>
          </a:stretch>
        </p:blipFill>
        <p:spPr>
          <a:xfrm>
            <a:off x="1133856" y="4224528"/>
            <a:ext cx="256032" cy="256032"/>
          </a:xfrm>
          <a:prstGeom prst="rect">
            <a:avLst/>
          </a:prstGeom>
        </p:spPr>
      </p:pic>
      <p:sp>
        <p:nvSpPr>
          <p:cNvPr id="48" name="Text 36"/>
          <p:cNvSpPr/>
          <p:nvPr/>
        </p:nvSpPr>
        <p:spPr>
          <a:xfrm>
            <a:off x="1783080" y="4087368"/>
            <a:ext cx="6858000" cy="292608"/>
          </a:xfrm>
          <a:prstGeom prst="rect">
            <a:avLst/>
          </a:prstGeom>
          <a:noFill/>
          <a:ln/>
        </p:spPr>
        <p:txBody>
          <a:bodyPr wrap="square" lIns="0" tIns="0" rIns="0" bIns="0"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Mitigations &amp; Actions</a:t>
            </a:r>
            <a:endParaRPr lang="en-US" sz="1300" dirty="0"/>
          </a:p>
        </p:txBody>
      </p:sp>
      <p:sp>
        <p:nvSpPr>
          <p:cNvPr id="49" name="Text 37"/>
          <p:cNvSpPr/>
          <p:nvPr/>
        </p:nvSpPr>
        <p:spPr>
          <a:xfrm>
            <a:off x="1783080" y="4379976"/>
            <a:ext cx="6858000" cy="256032"/>
          </a:xfrm>
          <a:prstGeom prst="rect">
            <a:avLst/>
          </a:prstGeom>
          <a:noFill/>
          <a:ln/>
        </p:spPr>
        <p:txBody>
          <a:bodyPr wrap="square" lIns="0" tIns="0" rIns="0" bIns="0" rtlCol="0" anchor="t"/>
          <a:lstStyle/>
          <a:p>
            <a:pPr indent="0" marL="0">
              <a:buNone/>
            </a:pPr>
            <a:r>
              <a:rPr lang="en-US" sz="1000" i="1" dirty="0">
                <a:solidFill>
                  <a:srgbClr val="64748B"/>
                </a:solidFill>
                <a:latin typeface="Calibri" pitchFamily="34" charset="0"/>
                <a:ea typeface="Calibri" pitchFamily="34" charset="-122"/>
                <a:cs typeface="Calibri" pitchFamily="34" charset="-120"/>
              </a:rPr>
              <a:t>Underwriting disciplines, strategic recommendations</a:t>
            </a:r>
            <a:endParaRPr lang="en-US" sz="1000" dirty="0"/>
          </a:p>
        </p:txBody>
      </p:sp>
      <p:sp>
        <p:nvSpPr>
          <p:cNvPr id="50" name="Shape 38"/>
          <p:cNvSpPr/>
          <p:nvPr/>
        </p:nvSpPr>
        <p:spPr>
          <a:xfrm>
            <a:off x="0" y="4850892"/>
            <a:ext cx="9144000" cy="292608"/>
          </a:xfrm>
          <a:prstGeom prst="rect">
            <a:avLst/>
          </a:prstGeom>
          <a:solidFill>
            <a:srgbClr val="F4F6F8"/>
          </a:solidFill>
          <a:ln w="12700">
            <a:solidFill>
              <a:srgbClr val="E2E8EF"/>
            </a:solidFill>
            <a:prstDash val="solid"/>
          </a:ln>
        </p:spPr>
      </p:sp>
      <p:sp>
        <p:nvSpPr>
          <p:cNvPr id="51" name="Text 39"/>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52" name="Text 40"/>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CBRE Research  |  March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01  The Demand Case: Ontario at the Epicentre</a:t>
            </a:r>
            <a:endParaRPr lang="en-US" sz="2200" dirty="0"/>
          </a:p>
        </p:txBody>
      </p:sp>
      <p:sp>
        <p:nvSpPr>
          <p:cNvPr id="4" name="Text 2"/>
          <p:cNvSpPr/>
          <p:nvPr/>
        </p:nvSpPr>
        <p:spPr>
          <a:xfrm>
            <a:off x="347472" y="713232"/>
            <a:ext cx="8595360" cy="256032"/>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AI compute requirements are doubling each model generation. Ontario is absorbing more than its share.</a:t>
            </a:r>
            <a:endParaRPr lang="en-US" sz="1100" dirty="0"/>
          </a:p>
        </p:txBody>
      </p:sp>
      <p:sp>
        <p:nvSpPr>
          <p:cNvPr id="5" name="Shape 3"/>
          <p:cNvSpPr/>
          <p:nvPr/>
        </p:nvSpPr>
        <p:spPr>
          <a:xfrm>
            <a:off x="347472" y="1005840"/>
            <a:ext cx="8503920" cy="22860"/>
          </a:xfrm>
          <a:prstGeom prst="rect">
            <a:avLst/>
          </a:prstGeom>
          <a:solidFill>
            <a:srgbClr val="E2E8EF"/>
          </a:solidFill>
          <a:ln w="12700">
            <a:solidFill>
              <a:srgbClr val="E2E8EF"/>
            </a:solidFill>
            <a:prstDash val="solid"/>
          </a:ln>
        </p:spPr>
      </p:sp>
      <p:sp>
        <p:nvSpPr>
          <p:cNvPr id="6" name="Shape 4"/>
          <p:cNvSpPr/>
          <p:nvPr/>
        </p:nvSpPr>
        <p:spPr>
          <a:xfrm>
            <a:off x="347472" y="1115568"/>
            <a:ext cx="1993392" cy="1243584"/>
          </a:xfrm>
          <a:prstGeom prst="rect">
            <a:avLst/>
          </a:prstGeom>
          <a:solidFill>
            <a:srgbClr val="FFFFFF"/>
          </a:solidFill>
          <a:ln w="9525">
            <a:solidFill>
              <a:srgbClr val="E2E8EF"/>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115568"/>
            <a:ext cx="1993392" cy="50292"/>
          </a:xfrm>
          <a:prstGeom prst="rect">
            <a:avLst/>
          </a:prstGeom>
          <a:solidFill>
            <a:srgbClr val="0D7A5F"/>
          </a:solidFill>
          <a:ln w="12700">
            <a:solidFill>
              <a:srgbClr val="0D7A5F"/>
            </a:solidFill>
            <a:prstDash val="solid"/>
          </a:ln>
        </p:spPr>
      </p:sp>
      <p:sp>
        <p:nvSpPr>
          <p:cNvPr id="8" name="Text 6"/>
          <p:cNvSpPr/>
          <p:nvPr/>
        </p:nvSpPr>
        <p:spPr>
          <a:xfrm>
            <a:off x="457200" y="1207008"/>
            <a:ext cx="1773936" cy="566928"/>
          </a:xfrm>
          <a:prstGeom prst="rect">
            <a:avLst/>
          </a:prstGeom>
          <a:noFill/>
          <a:ln/>
        </p:spPr>
        <p:txBody>
          <a:bodyPr wrap="square" lIns="0" tIns="0" rIns="0" bIns="0" rtlCol="0" anchor="ctr"/>
          <a:lstStyle/>
          <a:p>
            <a:pPr algn="ctr" indent="0" marL="0">
              <a:buNone/>
            </a:pPr>
            <a:r>
              <a:rPr lang="en-US" sz="3400" b="1" dirty="0">
                <a:solidFill>
                  <a:srgbClr val="0D7A5F"/>
                </a:solidFill>
                <a:latin typeface="Calibri" pitchFamily="34" charset="0"/>
                <a:ea typeface="Calibri" pitchFamily="34" charset="-122"/>
                <a:cs typeface="Calibri" pitchFamily="34" charset="-120"/>
              </a:rPr>
              <a:t>312 MW</a:t>
            </a:r>
            <a:endParaRPr lang="en-US" sz="3400" dirty="0"/>
          </a:p>
        </p:txBody>
      </p:sp>
      <p:sp>
        <p:nvSpPr>
          <p:cNvPr id="9" name="Text 7"/>
          <p:cNvSpPr/>
          <p:nvPr/>
        </p:nvSpPr>
        <p:spPr>
          <a:xfrm>
            <a:off x="438912" y="1783080"/>
            <a:ext cx="1810512" cy="237744"/>
          </a:xfrm>
          <a:prstGeom prst="rect">
            <a:avLst/>
          </a:prstGeom>
          <a:noFill/>
          <a:ln/>
        </p:spPr>
        <p:txBody>
          <a:bodyPr wrap="square" lIns="0" tIns="0" rIns="0" bIns="0" rtlCol="0" anchor="t"/>
          <a:lstStyle/>
          <a:p>
            <a:pPr algn="ctr" indent="0" marL="0">
              <a:buNone/>
            </a:pPr>
            <a:r>
              <a:rPr lang="en-US" sz="1000" b="1" dirty="0">
                <a:solidFill>
                  <a:srgbClr val="1B2A4A"/>
                </a:solidFill>
                <a:latin typeface="Calibri" pitchFamily="34" charset="0"/>
                <a:ea typeface="Calibri" pitchFamily="34" charset="-122"/>
                <a:cs typeface="Calibri" pitchFamily="34" charset="-120"/>
              </a:rPr>
              <a:t>Toronto Operational</a:t>
            </a:r>
            <a:endParaRPr lang="en-US" sz="1000" dirty="0"/>
          </a:p>
        </p:txBody>
      </p:sp>
      <p:sp>
        <p:nvSpPr>
          <p:cNvPr id="10" name="Text 8"/>
          <p:cNvSpPr/>
          <p:nvPr/>
        </p:nvSpPr>
        <p:spPr>
          <a:xfrm>
            <a:off x="438912" y="2011680"/>
            <a:ext cx="1810512" cy="201168"/>
          </a:xfrm>
          <a:prstGeom prst="rect">
            <a:avLst/>
          </a:prstGeom>
          <a:noFill/>
          <a:ln/>
        </p:spPr>
        <p:txBody>
          <a:bodyPr wrap="square" lIns="0" tIns="0" rIns="0" bIns="0" rtlCol="0" anchor="t"/>
          <a:lstStyle/>
          <a:p>
            <a:pPr algn="ctr" indent="0" marL="0">
              <a:buNone/>
            </a:pPr>
            <a:r>
              <a:rPr lang="en-US" sz="850" i="1" dirty="0">
                <a:solidFill>
                  <a:srgbClr val="64748B"/>
                </a:solidFill>
                <a:latin typeface="Calibri" pitchFamily="34" charset="0"/>
                <a:ea typeface="Calibri" pitchFamily="34" charset="-122"/>
                <a:cs typeface="Calibri" pitchFamily="34" charset="-120"/>
              </a:rPr>
              <a:t>H1 2025 (CBRE)</a:t>
            </a:r>
            <a:endParaRPr lang="en-US" sz="850" dirty="0"/>
          </a:p>
        </p:txBody>
      </p:sp>
      <p:sp>
        <p:nvSpPr>
          <p:cNvPr id="11" name="Shape 9"/>
          <p:cNvSpPr/>
          <p:nvPr/>
        </p:nvSpPr>
        <p:spPr>
          <a:xfrm>
            <a:off x="2478024" y="1115568"/>
            <a:ext cx="1993392" cy="1243584"/>
          </a:xfrm>
          <a:prstGeom prst="rect">
            <a:avLst/>
          </a:prstGeom>
          <a:solidFill>
            <a:srgbClr val="FFFFFF"/>
          </a:solidFill>
          <a:ln w="9525">
            <a:solidFill>
              <a:srgbClr val="E2E8EF"/>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478024" y="1115568"/>
            <a:ext cx="1993392" cy="50292"/>
          </a:xfrm>
          <a:prstGeom prst="rect">
            <a:avLst/>
          </a:prstGeom>
          <a:solidFill>
            <a:srgbClr val="2E6DA4"/>
          </a:solidFill>
          <a:ln w="12700">
            <a:solidFill>
              <a:srgbClr val="2E6DA4"/>
            </a:solidFill>
            <a:prstDash val="solid"/>
          </a:ln>
        </p:spPr>
      </p:sp>
      <p:sp>
        <p:nvSpPr>
          <p:cNvPr id="13" name="Text 11"/>
          <p:cNvSpPr/>
          <p:nvPr/>
        </p:nvSpPr>
        <p:spPr>
          <a:xfrm>
            <a:off x="2587752" y="1207008"/>
            <a:ext cx="1773936" cy="566928"/>
          </a:xfrm>
          <a:prstGeom prst="rect">
            <a:avLst/>
          </a:prstGeom>
          <a:noFill/>
          <a:ln/>
        </p:spPr>
        <p:txBody>
          <a:bodyPr wrap="square" lIns="0" tIns="0" rIns="0" bIns="0" rtlCol="0" anchor="ctr"/>
          <a:lstStyle/>
          <a:p>
            <a:pPr algn="ctr" indent="0" marL="0">
              <a:buNone/>
            </a:pPr>
            <a:r>
              <a:rPr lang="en-US" sz="3400" b="1" dirty="0">
                <a:solidFill>
                  <a:srgbClr val="2E6DA4"/>
                </a:solidFill>
                <a:latin typeface="Calibri" pitchFamily="34" charset="0"/>
                <a:ea typeface="Calibri" pitchFamily="34" charset="-122"/>
                <a:cs typeface="Calibri" pitchFamily="34" charset="-120"/>
              </a:rPr>
              <a:t>596 MW</a:t>
            </a:r>
            <a:endParaRPr lang="en-US" sz="3400" dirty="0"/>
          </a:p>
        </p:txBody>
      </p:sp>
      <p:sp>
        <p:nvSpPr>
          <p:cNvPr id="14" name="Text 12"/>
          <p:cNvSpPr/>
          <p:nvPr/>
        </p:nvSpPr>
        <p:spPr>
          <a:xfrm>
            <a:off x="2569464" y="1783080"/>
            <a:ext cx="1810512" cy="237744"/>
          </a:xfrm>
          <a:prstGeom prst="rect">
            <a:avLst/>
          </a:prstGeom>
          <a:noFill/>
          <a:ln/>
        </p:spPr>
        <p:txBody>
          <a:bodyPr wrap="square" lIns="0" tIns="0" rIns="0" bIns="0" rtlCol="0" anchor="t"/>
          <a:lstStyle/>
          <a:p>
            <a:pPr algn="ctr" indent="0" marL="0">
              <a:buNone/>
            </a:pPr>
            <a:r>
              <a:rPr lang="en-US" sz="1000" b="1" dirty="0">
                <a:solidFill>
                  <a:srgbClr val="1B2A4A"/>
                </a:solidFill>
                <a:latin typeface="Calibri" pitchFamily="34" charset="0"/>
                <a:ea typeface="Calibri" pitchFamily="34" charset="-122"/>
                <a:cs typeface="Calibri" pitchFamily="34" charset="-120"/>
              </a:rPr>
              <a:t>Pipeline (Build + Plan)</a:t>
            </a:r>
            <a:endParaRPr lang="en-US" sz="1000" dirty="0"/>
          </a:p>
        </p:txBody>
      </p:sp>
      <p:sp>
        <p:nvSpPr>
          <p:cNvPr id="15" name="Text 13"/>
          <p:cNvSpPr/>
          <p:nvPr/>
        </p:nvSpPr>
        <p:spPr>
          <a:xfrm>
            <a:off x="2569464" y="2011680"/>
            <a:ext cx="1810512" cy="201168"/>
          </a:xfrm>
          <a:prstGeom prst="rect">
            <a:avLst/>
          </a:prstGeom>
          <a:noFill/>
          <a:ln/>
        </p:spPr>
        <p:txBody>
          <a:bodyPr wrap="square" lIns="0" tIns="0" rIns="0" bIns="0" rtlCol="0" anchor="t"/>
          <a:lstStyle/>
          <a:p>
            <a:pPr algn="ctr" indent="0" marL="0">
              <a:buNone/>
            </a:pPr>
            <a:r>
              <a:rPr lang="en-US" sz="850" i="1" dirty="0">
                <a:solidFill>
                  <a:srgbClr val="64748B"/>
                </a:solidFill>
                <a:latin typeface="Calibri" pitchFamily="34" charset="0"/>
                <a:ea typeface="Calibri" pitchFamily="34" charset="-122"/>
                <a:cs typeface="Calibri" pitchFamily="34" charset="-120"/>
              </a:rPr>
              <a:t>Near-doubling in 18 months</a:t>
            </a:r>
            <a:endParaRPr lang="en-US" sz="850" dirty="0"/>
          </a:p>
        </p:txBody>
      </p:sp>
      <p:sp>
        <p:nvSpPr>
          <p:cNvPr id="16" name="Shape 14"/>
          <p:cNvSpPr/>
          <p:nvPr/>
        </p:nvSpPr>
        <p:spPr>
          <a:xfrm>
            <a:off x="4608576" y="1115568"/>
            <a:ext cx="1993392" cy="1243584"/>
          </a:xfrm>
          <a:prstGeom prst="rect">
            <a:avLst/>
          </a:prstGeom>
          <a:solidFill>
            <a:srgbClr val="FFFFFF"/>
          </a:solidFill>
          <a:ln w="9525">
            <a:solidFill>
              <a:srgbClr val="E2E8EF"/>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608576" y="1115568"/>
            <a:ext cx="1993392" cy="50292"/>
          </a:xfrm>
          <a:prstGeom prst="rect">
            <a:avLst/>
          </a:prstGeom>
          <a:solidFill>
            <a:srgbClr val="1B2A4A"/>
          </a:solidFill>
          <a:ln w="12700">
            <a:solidFill>
              <a:srgbClr val="1B2A4A"/>
            </a:solidFill>
            <a:prstDash val="solid"/>
          </a:ln>
        </p:spPr>
      </p:sp>
      <p:sp>
        <p:nvSpPr>
          <p:cNvPr id="18" name="Text 16"/>
          <p:cNvSpPr/>
          <p:nvPr/>
        </p:nvSpPr>
        <p:spPr>
          <a:xfrm>
            <a:off x="4718304" y="1207008"/>
            <a:ext cx="1773936" cy="566928"/>
          </a:xfrm>
          <a:prstGeom prst="rect">
            <a:avLst/>
          </a:prstGeom>
          <a:noFill/>
          <a:ln/>
        </p:spPr>
        <p:txBody>
          <a:bodyPr wrap="square" lIns="0" tIns="0" rIns="0" bIns="0" rtlCol="0" anchor="ctr"/>
          <a:lstStyle/>
          <a:p>
            <a:pPr algn="ctr" indent="0" marL="0">
              <a:buNone/>
            </a:pPr>
            <a:r>
              <a:rPr lang="en-US" sz="3400" b="1" dirty="0">
                <a:solidFill>
                  <a:srgbClr val="1B2A4A"/>
                </a:solidFill>
                <a:latin typeface="Calibri" pitchFamily="34" charset="0"/>
                <a:ea typeface="Calibri" pitchFamily="34" charset="-122"/>
                <a:cs typeface="Calibri" pitchFamily="34" charset="-120"/>
              </a:rPr>
              <a:t>94.5%</a:t>
            </a:r>
            <a:endParaRPr lang="en-US" sz="3400" dirty="0"/>
          </a:p>
        </p:txBody>
      </p:sp>
      <p:sp>
        <p:nvSpPr>
          <p:cNvPr id="19" name="Text 17"/>
          <p:cNvSpPr/>
          <p:nvPr/>
        </p:nvSpPr>
        <p:spPr>
          <a:xfrm>
            <a:off x="4700016" y="1783080"/>
            <a:ext cx="1810512" cy="237744"/>
          </a:xfrm>
          <a:prstGeom prst="rect">
            <a:avLst/>
          </a:prstGeom>
          <a:noFill/>
          <a:ln/>
        </p:spPr>
        <p:txBody>
          <a:bodyPr wrap="square" lIns="0" tIns="0" rIns="0" bIns="0" rtlCol="0" anchor="t"/>
          <a:lstStyle/>
          <a:p>
            <a:pPr algn="ctr" indent="0" marL="0">
              <a:buNone/>
            </a:pPr>
            <a:r>
              <a:rPr lang="en-US" sz="1000" b="1" dirty="0">
                <a:solidFill>
                  <a:srgbClr val="1B2A4A"/>
                </a:solidFill>
                <a:latin typeface="Calibri" pitchFamily="34" charset="0"/>
                <a:ea typeface="Calibri" pitchFamily="34" charset="-122"/>
                <a:cs typeface="Calibri" pitchFamily="34" charset="-120"/>
              </a:rPr>
              <a:t>Pre-committed</a:t>
            </a:r>
            <a:endParaRPr lang="en-US" sz="1000" dirty="0"/>
          </a:p>
        </p:txBody>
      </p:sp>
      <p:sp>
        <p:nvSpPr>
          <p:cNvPr id="20" name="Text 18"/>
          <p:cNvSpPr/>
          <p:nvPr/>
        </p:nvSpPr>
        <p:spPr>
          <a:xfrm>
            <a:off x="4700016" y="2011680"/>
            <a:ext cx="1810512" cy="201168"/>
          </a:xfrm>
          <a:prstGeom prst="rect">
            <a:avLst/>
          </a:prstGeom>
          <a:noFill/>
          <a:ln/>
        </p:spPr>
        <p:txBody>
          <a:bodyPr wrap="square" lIns="0" tIns="0" rIns="0" bIns="0" rtlCol="0" anchor="t"/>
          <a:lstStyle/>
          <a:p>
            <a:pPr algn="ctr" indent="0" marL="0">
              <a:buNone/>
            </a:pPr>
            <a:r>
              <a:rPr lang="en-US" sz="850" i="1" dirty="0">
                <a:solidFill>
                  <a:srgbClr val="64748B"/>
                </a:solidFill>
                <a:latin typeface="Calibri" pitchFamily="34" charset="0"/>
                <a:ea typeface="Calibri" pitchFamily="34" charset="-122"/>
                <a:cs typeface="Calibri" pitchFamily="34" charset="-120"/>
              </a:rPr>
              <a:t>Of 236 MW under construction</a:t>
            </a:r>
            <a:endParaRPr lang="en-US" sz="850" dirty="0"/>
          </a:p>
        </p:txBody>
      </p:sp>
      <p:sp>
        <p:nvSpPr>
          <p:cNvPr id="21" name="Shape 19"/>
          <p:cNvSpPr/>
          <p:nvPr/>
        </p:nvSpPr>
        <p:spPr>
          <a:xfrm>
            <a:off x="6739128" y="1115568"/>
            <a:ext cx="1993392" cy="1243584"/>
          </a:xfrm>
          <a:prstGeom prst="rect">
            <a:avLst/>
          </a:prstGeom>
          <a:solidFill>
            <a:srgbClr val="FFFFFF"/>
          </a:solidFill>
          <a:ln w="9525">
            <a:solidFill>
              <a:srgbClr val="E2E8EF"/>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6739128" y="1115568"/>
            <a:ext cx="1993392" cy="50292"/>
          </a:xfrm>
          <a:prstGeom prst="rect">
            <a:avLst/>
          </a:prstGeom>
          <a:solidFill>
            <a:srgbClr val="C9922A"/>
          </a:solidFill>
          <a:ln w="12700">
            <a:solidFill>
              <a:srgbClr val="C9922A"/>
            </a:solidFill>
            <a:prstDash val="solid"/>
          </a:ln>
        </p:spPr>
      </p:sp>
      <p:sp>
        <p:nvSpPr>
          <p:cNvPr id="23" name="Text 21"/>
          <p:cNvSpPr/>
          <p:nvPr/>
        </p:nvSpPr>
        <p:spPr>
          <a:xfrm>
            <a:off x="6848856" y="1207008"/>
            <a:ext cx="1773936" cy="566928"/>
          </a:xfrm>
          <a:prstGeom prst="rect">
            <a:avLst/>
          </a:prstGeom>
          <a:noFill/>
          <a:ln/>
        </p:spPr>
        <p:txBody>
          <a:bodyPr wrap="square" lIns="0" tIns="0" rIns="0" bIns="0" rtlCol="0" anchor="ctr"/>
          <a:lstStyle/>
          <a:p>
            <a:pPr algn="ctr" indent="0" marL="0">
              <a:buNone/>
            </a:pPr>
            <a:r>
              <a:rPr lang="en-US" sz="3400" b="1" dirty="0">
                <a:solidFill>
                  <a:srgbClr val="C9922A"/>
                </a:solidFill>
                <a:latin typeface="Calibri" pitchFamily="34" charset="0"/>
                <a:ea typeface="Calibri" pitchFamily="34" charset="-122"/>
                <a:cs typeface="Calibri" pitchFamily="34" charset="-120"/>
              </a:rPr>
              <a:t>13%</a:t>
            </a:r>
            <a:endParaRPr lang="en-US" sz="3400" dirty="0"/>
          </a:p>
        </p:txBody>
      </p:sp>
      <p:sp>
        <p:nvSpPr>
          <p:cNvPr id="24" name="Text 22"/>
          <p:cNvSpPr/>
          <p:nvPr/>
        </p:nvSpPr>
        <p:spPr>
          <a:xfrm>
            <a:off x="6830568" y="1783080"/>
            <a:ext cx="1810512" cy="237744"/>
          </a:xfrm>
          <a:prstGeom prst="rect">
            <a:avLst/>
          </a:prstGeom>
          <a:noFill/>
          <a:ln/>
        </p:spPr>
        <p:txBody>
          <a:bodyPr wrap="square" lIns="0" tIns="0" rIns="0" bIns="0" rtlCol="0" anchor="t"/>
          <a:lstStyle/>
          <a:p>
            <a:pPr algn="ctr" indent="0" marL="0">
              <a:buNone/>
            </a:pPr>
            <a:r>
              <a:rPr lang="en-US" sz="1000" b="1" dirty="0">
                <a:solidFill>
                  <a:srgbClr val="1B2A4A"/>
                </a:solidFill>
                <a:latin typeface="Calibri" pitchFamily="34" charset="0"/>
                <a:ea typeface="Calibri" pitchFamily="34" charset="-122"/>
                <a:cs typeface="Calibri" pitchFamily="34" charset="-120"/>
              </a:rPr>
              <a:t>Ontario Grid by 2035</a:t>
            </a:r>
            <a:endParaRPr lang="en-US" sz="1000" dirty="0"/>
          </a:p>
        </p:txBody>
      </p:sp>
      <p:sp>
        <p:nvSpPr>
          <p:cNvPr id="25" name="Text 23"/>
          <p:cNvSpPr/>
          <p:nvPr/>
        </p:nvSpPr>
        <p:spPr>
          <a:xfrm>
            <a:off x="6830568" y="2011680"/>
            <a:ext cx="1810512" cy="201168"/>
          </a:xfrm>
          <a:prstGeom prst="rect">
            <a:avLst/>
          </a:prstGeom>
          <a:noFill/>
          <a:ln/>
        </p:spPr>
        <p:txBody>
          <a:bodyPr wrap="square" lIns="0" tIns="0" rIns="0" bIns="0" rtlCol="0" anchor="t"/>
          <a:lstStyle/>
          <a:p>
            <a:pPr algn="ctr" indent="0" marL="0">
              <a:buNone/>
            </a:pPr>
            <a:r>
              <a:rPr lang="en-US" sz="850" i="1" dirty="0">
                <a:solidFill>
                  <a:srgbClr val="64748B"/>
                </a:solidFill>
                <a:latin typeface="Calibri" pitchFamily="34" charset="0"/>
                <a:ea typeface="Calibri" pitchFamily="34" charset="-122"/>
                <a:cs typeface="Calibri" pitchFamily="34" charset="-120"/>
              </a:rPr>
              <a:t>New demand from data centres (IESO)</a:t>
            </a:r>
            <a:endParaRPr lang="en-US" sz="850" dirty="0"/>
          </a:p>
        </p:txBody>
      </p:sp>
      <p:sp>
        <p:nvSpPr>
          <p:cNvPr id="26" name="Text 24"/>
          <p:cNvSpPr/>
          <p:nvPr/>
        </p:nvSpPr>
        <p:spPr>
          <a:xfrm>
            <a:off x="347472" y="2542032"/>
            <a:ext cx="4389120" cy="256032"/>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Toronto Supply Pipeline (MW)</a:t>
            </a:r>
            <a:endParaRPr lang="en-US" sz="1100" dirty="0"/>
          </a:p>
        </p:txBody>
      </p:sp>
      <p:graphicFrame>
        <p:nvGraphicFramePr>
          <p:cNvPr id="27" name="Chart 0" descr=""/>
          <p:cNvGraphicFramePr/>
          <p:nvPr/>
        </p:nvGraphicFramePr>
        <p:xfrm>
          <a:off x="347472" y="2816352"/>
          <a:ext cx="4206240" cy="1828800"/>
        </p:xfrm>
        <a:graphic xmlns:a="http://schemas.openxmlformats.org/drawingml/2006/main">
          <a:graphicData uri="http://schemas.openxmlformats.org/drawingml/2006/chart">
            <c:chart xmlns:c="http://schemas.openxmlformats.org/drawingml/2006/chart" r:id="rId1"/>
          </a:graphicData>
        </a:graphic>
      </p:graphicFrame>
      <p:sp>
        <p:nvSpPr>
          <p:cNvPr id="28" name="Shape 25"/>
          <p:cNvSpPr/>
          <p:nvPr/>
        </p:nvSpPr>
        <p:spPr>
          <a:xfrm>
            <a:off x="4828032" y="2542032"/>
            <a:ext cx="4114800" cy="621792"/>
          </a:xfrm>
          <a:prstGeom prst="rect">
            <a:avLst/>
          </a:prstGeom>
          <a:solidFill>
            <a:srgbClr val="F4F6F8"/>
          </a:solidFill>
          <a:ln w="9525">
            <a:solidFill>
              <a:srgbClr val="E2E8EF"/>
            </a:solidFill>
            <a:prstDash val="solid"/>
          </a:ln>
          <a:effectLst>
            <a:outerShdw sx="100000" sy="100000" kx="0" ky="0" algn="bl" rotWithShape="0" blurRad="101600" dist="38100" dir="8100000">
              <a:srgbClr val="000000">
                <a:alpha val="12000"/>
              </a:srgbClr>
            </a:outerShdw>
          </a:effectLst>
        </p:spPr>
      </p:sp>
      <p:sp>
        <p:nvSpPr>
          <p:cNvPr id="29" name="Shape 26"/>
          <p:cNvSpPr/>
          <p:nvPr/>
        </p:nvSpPr>
        <p:spPr>
          <a:xfrm>
            <a:off x="4828032" y="2542032"/>
            <a:ext cx="64008" cy="621792"/>
          </a:xfrm>
          <a:prstGeom prst="rect">
            <a:avLst/>
          </a:prstGeom>
          <a:solidFill>
            <a:srgbClr val="0D7A5F"/>
          </a:solidFill>
          <a:ln w="12700">
            <a:solidFill>
              <a:srgbClr val="0D7A5F"/>
            </a:solidFill>
            <a:prstDash val="solid"/>
          </a:ln>
        </p:spPr>
      </p:sp>
      <p:sp>
        <p:nvSpPr>
          <p:cNvPr id="30" name="Text 27"/>
          <p:cNvSpPr/>
          <p:nvPr/>
        </p:nvSpPr>
        <p:spPr>
          <a:xfrm>
            <a:off x="4965192" y="2660904"/>
            <a:ext cx="3913632" cy="256032"/>
          </a:xfrm>
          <a:prstGeom prst="rect">
            <a:avLst/>
          </a:prstGeom>
          <a:noFill/>
          <a:ln/>
        </p:spPr>
        <p:txBody>
          <a:bodyPr wrap="square" lIns="0" tIns="0" rIns="0" bIns="0" rtlCol="0" anchor="t"/>
          <a:lstStyle/>
          <a:p>
            <a:pPr indent="0" marL="0">
              <a:buNone/>
            </a:pPr>
            <a:r>
              <a:rPr lang="en-US" sz="1050" b="1" dirty="0">
                <a:solidFill>
                  <a:srgbClr val="1B2A4A"/>
                </a:solidFill>
                <a:latin typeface="Calibri" pitchFamily="34" charset="0"/>
                <a:ea typeface="Calibri" pitchFamily="34" charset="-122"/>
                <a:cs typeface="Calibri" pitchFamily="34" charset="-120"/>
              </a:rPr>
              <a:t>AI Training &amp; Inference</a:t>
            </a:r>
            <a:endParaRPr lang="en-US" sz="1050" dirty="0"/>
          </a:p>
        </p:txBody>
      </p:sp>
      <p:sp>
        <p:nvSpPr>
          <p:cNvPr id="31" name="Text 28"/>
          <p:cNvSpPr/>
          <p:nvPr/>
        </p:nvSpPr>
        <p:spPr>
          <a:xfrm>
            <a:off x="4965192" y="2926080"/>
            <a:ext cx="3913632" cy="146304"/>
          </a:xfrm>
          <a:prstGeom prst="rect">
            <a:avLst/>
          </a:prstGeom>
          <a:noFill/>
          <a:ln/>
        </p:spPr>
        <p:txBody>
          <a:bodyPr wrap="square" lIns="0" tIns="0" rIns="0" bIns="0" rtlCol="0" anchor="t"/>
          <a:lstStyle/>
          <a:p>
            <a:pPr indent="0" marL="0">
              <a:buNone/>
            </a:pPr>
            <a:r>
              <a:rPr lang="en-US" sz="950" dirty="0">
                <a:solidFill>
                  <a:srgbClr val="111111"/>
                </a:solidFill>
                <a:latin typeface="Calibri" pitchFamily="34" charset="0"/>
                <a:ea typeface="Calibri" pitchFamily="34" charset="-122"/>
                <a:cs typeface="Calibri" pitchFamily="34" charset="-120"/>
              </a:rPr>
              <a:t>Each frontier model generation requires 10x the compute of its predecessor. GPT-4 used 10x GPT-3's compute. Inference demand is continuous and growing.</a:t>
            </a:r>
            <a:endParaRPr lang="en-US" sz="950" dirty="0"/>
          </a:p>
        </p:txBody>
      </p:sp>
      <p:sp>
        <p:nvSpPr>
          <p:cNvPr id="32" name="Shape 29"/>
          <p:cNvSpPr/>
          <p:nvPr/>
        </p:nvSpPr>
        <p:spPr>
          <a:xfrm>
            <a:off x="4828032" y="3236976"/>
            <a:ext cx="4114800" cy="621792"/>
          </a:xfrm>
          <a:prstGeom prst="rect">
            <a:avLst/>
          </a:prstGeom>
          <a:solidFill>
            <a:srgbClr val="FFFFFF"/>
          </a:solidFill>
          <a:ln w="9525">
            <a:solidFill>
              <a:srgbClr val="E2E8EF"/>
            </a:solidFill>
            <a:prstDash val="solid"/>
          </a:ln>
          <a:effectLst>
            <a:outerShdw sx="100000" sy="100000" kx="0" ky="0" algn="bl" rotWithShape="0" blurRad="101600" dist="38100" dir="8100000">
              <a:srgbClr val="000000">
                <a:alpha val="12000"/>
              </a:srgbClr>
            </a:outerShdw>
          </a:effectLst>
        </p:spPr>
      </p:sp>
      <p:sp>
        <p:nvSpPr>
          <p:cNvPr id="33" name="Shape 30"/>
          <p:cNvSpPr/>
          <p:nvPr/>
        </p:nvSpPr>
        <p:spPr>
          <a:xfrm>
            <a:off x="4828032" y="3236976"/>
            <a:ext cx="64008" cy="621792"/>
          </a:xfrm>
          <a:prstGeom prst="rect">
            <a:avLst/>
          </a:prstGeom>
          <a:solidFill>
            <a:srgbClr val="0D7A5F"/>
          </a:solidFill>
          <a:ln w="12700">
            <a:solidFill>
              <a:srgbClr val="0D7A5F"/>
            </a:solidFill>
            <a:prstDash val="solid"/>
          </a:ln>
        </p:spPr>
      </p:sp>
      <p:sp>
        <p:nvSpPr>
          <p:cNvPr id="34" name="Text 31"/>
          <p:cNvSpPr/>
          <p:nvPr/>
        </p:nvSpPr>
        <p:spPr>
          <a:xfrm>
            <a:off x="4965192" y="3355848"/>
            <a:ext cx="3913632" cy="256032"/>
          </a:xfrm>
          <a:prstGeom prst="rect">
            <a:avLst/>
          </a:prstGeom>
          <a:noFill/>
          <a:ln/>
        </p:spPr>
        <p:txBody>
          <a:bodyPr wrap="square" lIns="0" tIns="0" rIns="0" bIns="0" rtlCol="0" anchor="t"/>
          <a:lstStyle/>
          <a:p>
            <a:pPr indent="0" marL="0">
              <a:buNone/>
            </a:pPr>
            <a:r>
              <a:rPr lang="en-US" sz="1050" b="1" dirty="0">
                <a:solidFill>
                  <a:srgbClr val="1B2A4A"/>
                </a:solidFill>
                <a:latin typeface="Calibri" pitchFamily="34" charset="0"/>
                <a:ea typeface="Calibri" pitchFamily="34" charset="-122"/>
                <a:cs typeface="Calibri" pitchFamily="34" charset="-120"/>
              </a:rPr>
              <a:t>Cloud Migration</a:t>
            </a:r>
            <a:endParaRPr lang="en-US" sz="1050" dirty="0"/>
          </a:p>
        </p:txBody>
      </p:sp>
      <p:sp>
        <p:nvSpPr>
          <p:cNvPr id="35" name="Text 32"/>
          <p:cNvSpPr/>
          <p:nvPr/>
        </p:nvSpPr>
        <p:spPr>
          <a:xfrm>
            <a:off x="4965192" y="3621024"/>
            <a:ext cx="3913632" cy="146304"/>
          </a:xfrm>
          <a:prstGeom prst="rect">
            <a:avLst/>
          </a:prstGeom>
          <a:noFill/>
          <a:ln/>
        </p:spPr>
        <p:txBody>
          <a:bodyPr wrap="square" lIns="0" tIns="0" rIns="0" bIns="0" rtlCol="0" anchor="t"/>
          <a:lstStyle/>
          <a:p>
            <a:pPr indent="0" marL="0">
              <a:buNone/>
            </a:pPr>
            <a:r>
              <a:rPr lang="en-US" sz="950" dirty="0">
                <a:solidFill>
                  <a:srgbClr val="111111"/>
                </a:solidFill>
                <a:latin typeface="Calibri" pitchFamily="34" charset="0"/>
                <a:ea typeface="Calibri" pitchFamily="34" charset="-122"/>
                <a:cs typeface="Calibri" pitchFamily="34" charset="-120"/>
              </a:rPr>
              <a:t>Under 40% of global enterprise workloads have migrated to cloud. Persistent structural demand independent of AI cycle.</a:t>
            </a:r>
            <a:endParaRPr lang="en-US" sz="950" dirty="0"/>
          </a:p>
        </p:txBody>
      </p:sp>
      <p:sp>
        <p:nvSpPr>
          <p:cNvPr id="36" name="Shape 33"/>
          <p:cNvSpPr/>
          <p:nvPr/>
        </p:nvSpPr>
        <p:spPr>
          <a:xfrm>
            <a:off x="4828032" y="3931920"/>
            <a:ext cx="4114800" cy="621792"/>
          </a:xfrm>
          <a:prstGeom prst="rect">
            <a:avLst/>
          </a:prstGeom>
          <a:solidFill>
            <a:srgbClr val="F4F6F8"/>
          </a:solidFill>
          <a:ln w="9525">
            <a:solidFill>
              <a:srgbClr val="E2E8EF"/>
            </a:solidFill>
            <a:prstDash val="solid"/>
          </a:ln>
          <a:effectLst>
            <a:outerShdw sx="100000" sy="100000" kx="0" ky="0" algn="bl" rotWithShape="0" blurRad="101600" dist="38100" dir="8100000">
              <a:srgbClr val="000000">
                <a:alpha val="12000"/>
              </a:srgbClr>
            </a:outerShdw>
          </a:effectLst>
        </p:spPr>
      </p:sp>
      <p:sp>
        <p:nvSpPr>
          <p:cNvPr id="37" name="Shape 34"/>
          <p:cNvSpPr/>
          <p:nvPr/>
        </p:nvSpPr>
        <p:spPr>
          <a:xfrm>
            <a:off x="4828032" y="3931920"/>
            <a:ext cx="64008" cy="621792"/>
          </a:xfrm>
          <a:prstGeom prst="rect">
            <a:avLst/>
          </a:prstGeom>
          <a:solidFill>
            <a:srgbClr val="0D7A5F"/>
          </a:solidFill>
          <a:ln w="12700">
            <a:solidFill>
              <a:srgbClr val="0D7A5F"/>
            </a:solidFill>
            <a:prstDash val="solid"/>
          </a:ln>
        </p:spPr>
      </p:sp>
      <p:sp>
        <p:nvSpPr>
          <p:cNvPr id="38" name="Text 35"/>
          <p:cNvSpPr/>
          <p:nvPr/>
        </p:nvSpPr>
        <p:spPr>
          <a:xfrm>
            <a:off x="4965192" y="4050792"/>
            <a:ext cx="3913632" cy="256032"/>
          </a:xfrm>
          <a:prstGeom prst="rect">
            <a:avLst/>
          </a:prstGeom>
          <a:noFill/>
          <a:ln/>
        </p:spPr>
        <p:txBody>
          <a:bodyPr wrap="square" lIns="0" tIns="0" rIns="0" bIns="0" rtlCol="0" anchor="t"/>
          <a:lstStyle/>
          <a:p>
            <a:pPr indent="0" marL="0">
              <a:buNone/>
            </a:pPr>
            <a:r>
              <a:rPr lang="en-US" sz="1050" b="1" dirty="0">
                <a:solidFill>
                  <a:srgbClr val="1B2A4A"/>
                </a:solidFill>
                <a:latin typeface="Calibri" pitchFamily="34" charset="0"/>
                <a:ea typeface="Calibri" pitchFamily="34" charset="-122"/>
                <a:cs typeface="Calibri" pitchFamily="34" charset="-120"/>
              </a:rPr>
              <a:t>Data Sovereignty</a:t>
            </a:r>
            <a:endParaRPr lang="en-US" sz="1050" dirty="0"/>
          </a:p>
        </p:txBody>
      </p:sp>
      <p:sp>
        <p:nvSpPr>
          <p:cNvPr id="39" name="Text 36"/>
          <p:cNvSpPr/>
          <p:nvPr/>
        </p:nvSpPr>
        <p:spPr>
          <a:xfrm>
            <a:off x="4965192" y="4315968"/>
            <a:ext cx="3913632" cy="146304"/>
          </a:xfrm>
          <a:prstGeom prst="rect">
            <a:avLst/>
          </a:prstGeom>
          <a:noFill/>
          <a:ln/>
        </p:spPr>
        <p:txBody>
          <a:bodyPr wrap="square" lIns="0" tIns="0" rIns="0" bIns="0" rtlCol="0" anchor="t"/>
          <a:lstStyle/>
          <a:p>
            <a:pPr indent="0" marL="0">
              <a:buNone/>
            </a:pPr>
            <a:r>
              <a:rPr lang="en-US" sz="950" dirty="0">
                <a:solidFill>
                  <a:srgbClr val="111111"/>
                </a:solidFill>
                <a:latin typeface="Calibri" pitchFamily="34" charset="0"/>
                <a:ea typeface="Calibri" pitchFamily="34" charset="-122"/>
                <a:cs typeface="Calibri" pitchFamily="34" charset="-120"/>
              </a:rPr>
              <a:t>Canadian financial services, healthcare, and government require domestic data hosting. Regulatory moat insulating Ontario from U.S. market corrections.</a:t>
            </a:r>
            <a:endParaRPr lang="en-US" sz="950" dirty="0"/>
          </a:p>
        </p:txBody>
      </p:sp>
      <p:sp>
        <p:nvSpPr>
          <p:cNvPr id="40" name="Shape 37"/>
          <p:cNvSpPr/>
          <p:nvPr/>
        </p:nvSpPr>
        <p:spPr>
          <a:xfrm>
            <a:off x="0" y="4850892"/>
            <a:ext cx="9144000" cy="292608"/>
          </a:xfrm>
          <a:prstGeom prst="rect">
            <a:avLst/>
          </a:prstGeom>
          <a:solidFill>
            <a:srgbClr val="F4F6F8"/>
          </a:solidFill>
          <a:ln w="12700">
            <a:solidFill>
              <a:srgbClr val="E2E8EF"/>
            </a:solidFill>
            <a:prstDash val="solid"/>
          </a:ln>
        </p:spPr>
      </p:sp>
      <p:sp>
        <p:nvSpPr>
          <p:cNvPr id="41" name="Text 38"/>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42" name="Text 39"/>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Source: CBRE, IESO, Cushman &amp; Wakefield 2025</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02  Eastern Ontario: The Emerging Frontier</a:t>
            </a:r>
            <a:endParaRPr lang="en-US" sz="2200" dirty="0"/>
          </a:p>
        </p:txBody>
      </p:sp>
      <p:sp>
        <p:nvSpPr>
          <p:cNvPr id="4" name="Text 2"/>
          <p:cNvSpPr/>
          <p:nvPr/>
        </p:nvSpPr>
        <p:spPr>
          <a:xfrm>
            <a:off x="347472" y="713232"/>
            <a:ext cx="8595360" cy="256032"/>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GTA power saturation is redirecting the next phase of Ontario data centre development east along the 401 corridor.</a:t>
            </a:r>
            <a:endParaRPr lang="en-US" sz="1100" dirty="0"/>
          </a:p>
        </p:txBody>
      </p:sp>
      <p:sp>
        <p:nvSpPr>
          <p:cNvPr id="5" name="Shape 3"/>
          <p:cNvSpPr/>
          <p:nvPr/>
        </p:nvSpPr>
        <p:spPr>
          <a:xfrm>
            <a:off x="347472" y="1005840"/>
            <a:ext cx="8503920" cy="22860"/>
          </a:xfrm>
          <a:prstGeom prst="rect">
            <a:avLst/>
          </a:prstGeom>
          <a:solidFill>
            <a:srgbClr val="E2E8EF"/>
          </a:solidFill>
          <a:ln w="12700">
            <a:solidFill>
              <a:srgbClr val="E2E8EF"/>
            </a:solidFill>
            <a:prstDash val="solid"/>
          </a:ln>
        </p:spPr>
      </p:sp>
      <p:sp>
        <p:nvSpPr>
          <p:cNvPr id="6" name="Shape 4"/>
          <p:cNvSpPr/>
          <p:nvPr/>
        </p:nvSpPr>
        <p:spPr>
          <a:xfrm>
            <a:off x="347472" y="1115568"/>
            <a:ext cx="4114800" cy="3611880"/>
          </a:xfrm>
          <a:prstGeom prst="rect">
            <a:avLst/>
          </a:prstGeom>
          <a:solidFill>
            <a:srgbClr val="F4F6F8"/>
          </a:solidFill>
          <a:ln w="12700">
            <a:solidFill>
              <a:srgbClr val="E2E8EF"/>
            </a:solidFill>
            <a:prstDash val="solid"/>
          </a:ln>
        </p:spPr>
      </p:sp>
      <p:sp>
        <p:nvSpPr>
          <p:cNvPr id="7" name="Text 5"/>
          <p:cNvSpPr/>
          <p:nvPr/>
        </p:nvSpPr>
        <p:spPr>
          <a:xfrm>
            <a:off x="457200" y="1234440"/>
            <a:ext cx="3895344" cy="274320"/>
          </a:xfrm>
          <a:prstGeom prst="rect">
            <a:avLst/>
          </a:prstGeom>
          <a:noFill/>
          <a:ln/>
        </p:spPr>
        <p:txBody>
          <a:bodyPr wrap="square" lIns="0" tIns="0" rIns="0" bIns="0" rtlCol="0" anchor="ctr"/>
          <a:lstStyle/>
          <a:p>
            <a:pPr algn="ctr" indent="0" marL="0">
              <a:buNone/>
            </a:pPr>
            <a:r>
              <a:rPr lang="en-US" sz="1000" b="1" spc="300" kern="0" dirty="0">
                <a:solidFill>
                  <a:srgbClr val="64748B"/>
                </a:solidFill>
                <a:latin typeface="Calibri" pitchFamily="34" charset="0"/>
                <a:ea typeface="Calibri" pitchFamily="34" charset="-122"/>
                <a:cs typeface="Calibri" pitchFamily="34" charset="-120"/>
              </a:rPr>
              <a:t>ONTARIO CORRIDOR</a:t>
            </a:r>
            <a:endParaRPr lang="en-US" sz="1000" dirty="0"/>
          </a:p>
        </p:txBody>
      </p:sp>
      <p:sp>
        <p:nvSpPr>
          <p:cNvPr id="8" name="Shape 6"/>
          <p:cNvSpPr/>
          <p:nvPr/>
        </p:nvSpPr>
        <p:spPr>
          <a:xfrm>
            <a:off x="548640" y="2724912"/>
            <a:ext cx="3749040" cy="164592"/>
          </a:xfrm>
          <a:prstGeom prst="rect">
            <a:avLst/>
          </a:prstGeom>
          <a:solidFill>
            <a:srgbClr val="FFD700"/>
          </a:solidFill>
          <a:ln w="12700">
            <a:solidFill>
              <a:srgbClr val="FFD700"/>
            </a:solidFill>
            <a:prstDash val="solid"/>
          </a:ln>
        </p:spPr>
      </p:sp>
      <p:sp>
        <p:nvSpPr>
          <p:cNvPr id="9" name="Text 7"/>
          <p:cNvSpPr/>
          <p:nvPr/>
        </p:nvSpPr>
        <p:spPr>
          <a:xfrm>
            <a:off x="548640" y="2596896"/>
            <a:ext cx="3749040" cy="182880"/>
          </a:xfrm>
          <a:prstGeom prst="rect">
            <a:avLst/>
          </a:prstGeom>
          <a:noFill/>
          <a:ln/>
        </p:spPr>
        <p:txBody>
          <a:bodyPr wrap="square" lIns="0" tIns="0" rIns="0" bIns="0" rtlCol="0" anchor="ctr"/>
          <a:lstStyle/>
          <a:p>
            <a:pPr algn="ctr" indent="0" marL="0">
              <a:buNone/>
            </a:pPr>
            <a:r>
              <a:rPr lang="en-US" sz="800" b="1" dirty="0">
                <a:solidFill>
                  <a:srgbClr val="64748B"/>
                </a:solidFill>
                <a:latin typeface="Calibri" pitchFamily="34" charset="0"/>
                <a:ea typeface="Calibri" pitchFamily="34" charset="-122"/>
                <a:cs typeface="Calibri" pitchFamily="34" charset="-120"/>
              </a:rPr>
              <a:t>HWY 401</a:t>
            </a:r>
            <a:endParaRPr lang="en-US" sz="800" dirty="0"/>
          </a:p>
        </p:txBody>
      </p:sp>
      <p:sp>
        <p:nvSpPr>
          <p:cNvPr id="10" name="Shape 8"/>
          <p:cNvSpPr/>
          <p:nvPr/>
        </p:nvSpPr>
        <p:spPr>
          <a:xfrm>
            <a:off x="822960" y="2194560"/>
            <a:ext cx="182880" cy="182880"/>
          </a:xfrm>
          <a:prstGeom prst="ellipse">
            <a:avLst/>
          </a:prstGeom>
          <a:solidFill>
            <a:srgbClr val="B83232"/>
          </a:solidFill>
          <a:ln w="12700">
            <a:solidFill>
              <a:srgbClr val="B83232"/>
            </a:solidFill>
            <a:prstDash val="solid"/>
          </a:ln>
        </p:spPr>
      </p:sp>
      <p:sp>
        <p:nvSpPr>
          <p:cNvPr id="11" name="Text 9"/>
          <p:cNvSpPr/>
          <p:nvPr/>
        </p:nvSpPr>
        <p:spPr>
          <a:xfrm>
            <a:off x="1024128" y="2194560"/>
            <a:ext cx="1005840" cy="347472"/>
          </a:xfrm>
          <a:prstGeom prst="rect">
            <a:avLst/>
          </a:prstGeom>
          <a:noFill/>
          <a:ln/>
        </p:spPr>
        <p:txBody>
          <a:bodyPr wrap="square" lIns="0" tIns="0" rIns="0" bIns="0" rtlCol="0" anchor="ctr"/>
          <a:lstStyle/>
          <a:p>
            <a:pPr indent="0" marL="0">
              <a:buNone/>
            </a:pPr>
            <a:r>
              <a:rPr lang="en-US" sz="800" dirty="0">
                <a:solidFill>
                  <a:srgbClr val="1B2A4A"/>
                </a:solidFill>
                <a:latin typeface="Calibri" pitchFamily="34" charset="0"/>
                <a:ea typeface="Calibri" pitchFamily="34" charset="-122"/>
                <a:cs typeface="Calibri" pitchFamily="34" charset="-120"/>
              </a:rPr>
              <a:t>Toronto</a:t>
            </a:r>
            <a:endParaRPr lang="en-US" sz="800" dirty="0"/>
          </a:p>
          <a:p>
            <a:pPr indent="0" marL="0">
              <a:buNone/>
            </a:pPr>
            <a:r>
              <a:rPr lang="en-US" sz="800" dirty="0">
                <a:solidFill>
                  <a:srgbClr val="1B2A4A"/>
                </a:solidFill>
                <a:latin typeface="Calibri" pitchFamily="34" charset="0"/>
                <a:ea typeface="Calibri" pitchFamily="34" charset="-122"/>
                <a:cs typeface="Calibri" pitchFamily="34" charset="-120"/>
              </a:rPr>
              <a:t>(Saturated)</a:t>
            </a:r>
            <a:endParaRPr lang="en-US" sz="800" dirty="0"/>
          </a:p>
        </p:txBody>
      </p:sp>
      <p:sp>
        <p:nvSpPr>
          <p:cNvPr id="12" name="Shape 10"/>
          <p:cNvSpPr/>
          <p:nvPr/>
        </p:nvSpPr>
        <p:spPr>
          <a:xfrm>
            <a:off x="1280160" y="1920240"/>
            <a:ext cx="182880" cy="182880"/>
          </a:xfrm>
          <a:prstGeom prst="ellipse">
            <a:avLst/>
          </a:prstGeom>
          <a:solidFill>
            <a:srgbClr val="B83232"/>
          </a:solidFill>
          <a:ln w="12700">
            <a:solidFill>
              <a:srgbClr val="B83232"/>
            </a:solidFill>
            <a:prstDash val="solid"/>
          </a:ln>
        </p:spPr>
      </p:sp>
      <p:sp>
        <p:nvSpPr>
          <p:cNvPr id="13" name="Text 11"/>
          <p:cNvSpPr/>
          <p:nvPr/>
        </p:nvSpPr>
        <p:spPr>
          <a:xfrm>
            <a:off x="1481328" y="1920240"/>
            <a:ext cx="1005840" cy="347472"/>
          </a:xfrm>
          <a:prstGeom prst="rect">
            <a:avLst/>
          </a:prstGeom>
          <a:noFill/>
          <a:ln/>
        </p:spPr>
        <p:txBody>
          <a:bodyPr wrap="square" lIns="0" tIns="0" rIns="0" bIns="0" rtlCol="0" anchor="ctr"/>
          <a:lstStyle/>
          <a:p>
            <a:pPr indent="0" marL="0">
              <a:buNone/>
            </a:pPr>
            <a:r>
              <a:rPr lang="en-US" sz="800" dirty="0">
                <a:solidFill>
                  <a:srgbClr val="1B2A4A"/>
                </a:solidFill>
                <a:latin typeface="Calibri" pitchFamily="34" charset="0"/>
                <a:ea typeface="Calibri" pitchFamily="34" charset="-122"/>
                <a:cs typeface="Calibri" pitchFamily="34" charset="-120"/>
              </a:rPr>
              <a:t>Markham</a:t>
            </a:r>
            <a:endParaRPr lang="en-US" sz="800" dirty="0"/>
          </a:p>
          <a:p>
            <a:pPr indent="0" marL="0">
              <a:buNone/>
            </a:pPr>
            <a:r>
              <a:rPr lang="en-US" sz="800" dirty="0">
                <a:solidFill>
                  <a:srgbClr val="1B2A4A"/>
                </a:solidFill>
                <a:latin typeface="Calibri" pitchFamily="34" charset="0"/>
                <a:ea typeface="Calibri" pitchFamily="34" charset="-122"/>
                <a:cs typeface="Calibri" pitchFamily="34" charset="-120"/>
              </a:rPr>
              <a:t>112 MW</a:t>
            </a:r>
            <a:endParaRPr lang="en-US" sz="800" dirty="0"/>
          </a:p>
        </p:txBody>
      </p:sp>
      <p:sp>
        <p:nvSpPr>
          <p:cNvPr id="14" name="Shape 12"/>
          <p:cNvSpPr/>
          <p:nvPr/>
        </p:nvSpPr>
        <p:spPr>
          <a:xfrm>
            <a:off x="2743200" y="2286000"/>
            <a:ext cx="182880" cy="182880"/>
          </a:xfrm>
          <a:prstGeom prst="ellipse">
            <a:avLst/>
          </a:prstGeom>
          <a:solidFill>
            <a:srgbClr val="0D7A5F"/>
          </a:solidFill>
          <a:ln w="12700">
            <a:solidFill>
              <a:srgbClr val="0D7A5F"/>
            </a:solidFill>
            <a:prstDash val="solid"/>
          </a:ln>
        </p:spPr>
      </p:sp>
      <p:sp>
        <p:nvSpPr>
          <p:cNvPr id="15" name="Text 13"/>
          <p:cNvSpPr/>
          <p:nvPr/>
        </p:nvSpPr>
        <p:spPr>
          <a:xfrm>
            <a:off x="2944368" y="2286000"/>
            <a:ext cx="1005840" cy="347472"/>
          </a:xfrm>
          <a:prstGeom prst="rect">
            <a:avLst/>
          </a:prstGeom>
          <a:noFill/>
          <a:ln/>
        </p:spPr>
        <p:txBody>
          <a:bodyPr wrap="square" lIns="0" tIns="0" rIns="0" bIns="0" rtlCol="0" anchor="ctr"/>
          <a:lstStyle/>
          <a:p>
            <a:pPr indent="0" marL="0">
              <a:buNone/>
            </a:pPr>
            <a:r>
              <a:rPr lang="en-US" sz="800" dirty="0">
                <a:solidFill>
                  <a:srgbClr val="1B2A4A"/>
                </a:solidFill>
                <a:latin typeface="Calibri" pitchFamily="34" charset="0"/>
                <a:ea typeface="Calibri" pitchFamily="34" charset="-122"/>
                <a:cs typeface="Calibri" pitchFamily="34" charset="-120"/>
              </a:rPr>
              <a:t>Kingston</a:t>
            </a:r>
            <a:endParaRPr lang="en-US" sz="800" dirty="0"/>
          </a:p>
        </p:txBody>
      </p:sp>
      <p:sp>
        <p:nvSpPr>
          <p:cNvPr id="16" name="Shape 14"/>
          <p:cNvSpPr/>
          <p:nvPr/>
        </p:nvSpPr>
        <p:spPr>
          <a:xfrm>
            <a:off x="2377440" y="2103120"/>
            <a:ext cx="182880" cy="182880"/>
          </a:xfrm>
          <a:prstGeom prst="ellipse">
            <a:avLst/>
          </a:prstGeom>
          <a:solidFill>
            <a:srgbClr val="0D7A5F"/>
          </a:solidFill>
          <a:ln w="12700">
            <a:solidFill>
              <a:srgbClr val="0D7A5F"/>
            </a:solidFill>
            <a:prstDash val="solid"/>
          </a:ln>
        </p:spPr>
      </p:sp>
      <p:sp>
        <p:nvSpPr>
          <p:cNvPr id="17" name="Text 15"/>
          <p:cNvSpPr/>
          <p:nvPr/>
        </p:nvSpPr>
        <p:spPr>
          <a:xfrm>
            <a:off x="2578608" y="2103120"/>
            <a:ext cx="1005840" cy="347472"/>
          </a:xfrm>
          <a:prstGeom prst="rect">
            <a:avLst/>
          </a:prstGeom>
          <a:noFill/>
          <a:ln/>
        </p:spPr>
        <p:txBody>
          <a:bodyPr wrap="square" lIns="0" tIns="0" rIns="0" bIns="0" rtlCol="0" anchor="ctr"/>
          <a:lstStyle/>
          <a:p>
            <a:pPr indent="0" marL="0">
              <a:buNone/>
            </a:pPr>
            <a:r>
              <a:rPr lang="en-US" sz="800" dirty="0">
                <a:solidFill>
                  <a:srgbClr val="1B2A4A"/>
                </a:solidFill>
                <a:latin typeface="Calibri" pitchFamily="34" charset="0"/>
                <a:ea typeface="Calibri" pitchFamily="34" charset="-122"/>
                <a:cs typeface="Calibri" pitchFamily="34" charset="-120"/>
              </a:rPr>
              <a:t>Belleville</a:t>
            </a:r>
            <a:endParaRPr lang="en-US" sz="800" dirty="0"/>
          </a:p>
        </p:txBody>
      </p:sp>
      <p:sp>
        <p:nvSpPr>
          <p:cNvPr id="18" name="Shape 16"/>
          <p:cNvSpPr/>
          <p:nvPr/>
        </p:nvSpPr>
        <p:spPr>
          <a:xfrm>
            <a:off x="1920240" y="2194560"/>
            <a:ext cx="182880" cy="182880"/>
          </a:xfrm>
          <a:prstGeom prst="ellipse">
            <a:avLst/>
          </a:prstGeom>
          <a:solidFill>
            <a:srgbClr val="0D7A5F"/>
          </a:solidFill>
          <a:ln w="12700">
            <a:solidFill>
              <a:srgbClr val="0D7A5F"/>
            </a:solidFill>
            <a:prstDash val="solid"/>
          </a:ln>
        </p:spPr>
      </p:sp>
      <p:sp>
        <p:nvSpPr>
          <p:cNvPr id="19" name="Text 17"/>
          <p:cNvSpPr/>
          <p:nvPr/>
        </p:nvSpPr>
        <p:spPr>
          <a:xfrm>
            <a:off x="2121408" y="2194560"/>
            <a:ext cx="1005840" cy="347472"/>
          </a:xfrm>
          <a:prstGeom prst="rect">
            <a:avLst/>
          </a:prstGeom>
          <a:noFill/>
          <a:ln/>
        </p:spPr>
        <p:txBody>
          <a:bodyPr wrap="square" lIns="0" tIns="0" rIns="0" bIns="0" rtlCol="0" anchor="ctr"/>
          <a:lstStyle/>
          <a:p>
            <a:pPr indent="0" marL="0">
              <a:buNone/>
            </a:pPr>
            <a:r>
              <a:rPr lang="en-US" sz="800" dirty="0">
                <a:solidFill>
                  <a:srgbClr val="1B2A4A"/>
                </a:solidFill>
                <a:latin typeface="Calibri" pitchFamily="34" charset="0"/>
                <a:ea typeface="Calibri" pitchFamily="34" charset="-122"/>
                <a:cs typeface="Calibri" pitchFamily="34" charset="-120"/>
              </a:rPr>
              <a:t>Cobourg</a:t>
            </a:r>
            <a:endParaRPr lang="en-US" sz="800" dirty="0"/>
          </a:p>
        </p:txBody>
      </p:sp>
      <p:sp>
        <p:nvSpPr>
          <p:cNvPr id="20" name="Shape 18"/>
          <p:cNvSpPr/>
          <p:nvPr/>
        </p:nvSpPr>
        <p:spPr>
          <a:xfrm>
            <a:off x="1783080" y="3154680"/>
            <a:ext cx="182880" cy="182880"/>
          </a:xfrm>
          <a:prstGeom prst="ellipse">
            <a:avLst/>
          </a:prstGeom>
          <a:solidFill>
            <a:srgbClr val="0D7A5F"/>
          </a:solidFill>
          <a:ln w="12700">
            <a:solidFill>
              <a:srgbClr val="0D7A5F"/>
            </a:solidFill>
            <a:prstDash val="solid"/>
          </a:ln>
        </p:spPr>
      </p:sp>
      <p:sp>
        <p:nvSpPr>
          <p:cNvPr id="21" name="Text 19"/>
          <p:cNvSpPr/>
          <p:nvPr/>
        </p:nvSpPr>
        <p:spPr>
          <a:xfrm>
            <a:off x="1984248" y="3154680"/>
            <a:ext cx="1005840" cy="347472"/>
          </a:xfrm>
          <a:prstGeom prst="rect">
            <a:avLst/>
          </a:prstGeom>
          <a:noFill/>
          <a:ln/>
        </p:spPr>
        <p:txBody>
          <a:bodyPr wrap="square" lIns="0" tIns="0" rIns="0" bIns="0" rtlCol="0" anchor="ctr"/>
          <a:lstStyle/>
          <a:p>
            <a:pPr indent="0" marL="0">
              <a:buNone/>
            </a:pPr>
            <a:r>
              <a:rPr lang="en-US" sz="800" dirty="0">
                <a:solidFill>
                  <a:srgbClr val="1B2A4A"/>
                </a:solidFill>
                <a:latin typeface="Calibri" pitchFamily="34" charset="0"/>
                <a:ea typeface="Calibri" pitchFamily="34" charset="-122"/>
                <a:cs typeface="Calibri" pitchFamily="34" charset="-120"/>
              </a:rPr>
              <a:t>Darlington</a:t>
            </a:r>
            <a:endParaRPr lang="en-US" sz="800" dirty="0"/>
          </a:p>
          <a:p>
            <a:pPr indent="0" marL="0">
              <a:buNone/>
            </a:pPr>
            <a:r>
              <a:rPr lang="en-US" sz="800" dirty="0">
                <a:solidFill>
                  <a:srgbClr val="1B2A4A"/>
                </a:solidFill>
                <a:latin typeface="Calibri" pitchFamily="34" charset="0"/>
                <a:ea typeface="Calibri" pitchFamily="34" charset="-122"/>
                <a:cs typeface="Calibri" pitchFamily="34" charset="-120"/>
              </a:rPr>
              <a:t>SMR Site</a:t>
            </a:r>
            <a:endParaRPr lang="en-US" sz="800" dirty="0"/>
          </a:p>
        </p:txBody>
      </p:sp>
      <p:sp>
        <p:nvSpPr>
          <p:cNvPr id="22" name="Shape 20"/>
          <p:cNvSpPr/>
          <p:nvPr/>
        </p:nvSpPr>
        <p:spPr>
          <a:xfrm>
            <a:off x="457200" y="4434840"/>
            <a:ext cx="128016" cy="128016"/>
          </a:xfrm>
          <a:prstGeom prst="ellipse">
            <a:avLst/>
          </a:prstGeom>
          <a:solidFill>
            <a:srgbClr val="B83232"/>
          </a:solidFill>
          <a:ln w="12700">
            <a:solidFill>
              <a:srgbClr val="B83232"/>
            </a:solidFill>
            <a:prstDash val="solid"/>
          </a:ln>
        </p:spPr>
      </p:sp>
      <p:sp>
        <p:nvSpPr>
          <p:cNvPr id="23" name="Text 21"/>
          <p:cNvSpPr/>
          <p:nvPr/>
        </p:nvSpPr>
        <p:spPr>
          <a:xfrm>
            <a:off x="621792" y="4407408"/>
            <a:ext cx="137160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Constrained / Active</a:t>
            </a:r>
            <a:endParaRPr lang="en-US" sz="800" dirty="0"/>
          </a:p>
        </p:txBody>
      </p:sp>
      <p:sp>
        <p:nvSpPr>
          <p:cNvPr id="24" name="Shape 22"/>
          <p:cNvSpPr/>
          <p:nvPr/>
        </p:nvSpPr>
        <p:spPr>
          <a:xfrm>
            <a:off x="2011680" y="4434840"/>
            <a:ext cx="128016" cy="128016"/>
          </a:xfrm>
          <a:prstGeom prst="ellipse">
            <a:avLst/>
          </a:prstGeom>
          <a:solidFill>
            <a:srgbClr val="0D7A5F"/>
          </a:solidFill>
          <a:ln w="12700">
            <a:solidFill>
              <a:srgbClr val="0D7A5F"/>
            </a:solidFill>
            <a:prstDash val="solid"/>
          </a:ln>
        </p:spPr>
      </p:sp>
      <p:sp>
        <p:nvSpPr>
          <p:cNvPr id="25" name="Text 23"/>
          <p:cNvSpPr/>
          <p:nvPr/>
        </p:nvSpPr>
        <p:spPr>
          <a:xfrm>
            <a:off x="2176272" y="4407408"/>
            <a:ext cx="137160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Opportunity Zone</a:t>
            </a:r>
            <a:endParaRPr lang="en-US" sz="800" dirty="0"/>
          </a:p>
        </p:txBody>
      </p:sp>
      <p:sp>
        <p:nvSpPr>
          <p:cNvPr id="26" name="Text 24"/>
          <p:cNvSpPr/>
          <p:nvPr/>
        </p:nvSpPr>
        <p:spPr>
          <a:xfrm>
            <a:off x="4681728" y="1115568"/>
            <a:ext cx="425196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Four Investment Pillars</a:t>
            </a:r>
            <a:endParaRPr lang="en-US" sz="1200" dirty="0"/>
          </a:p>
        </p:txBody>
      </p:sp>
      <p:sp>
        <p:nvSpPr>
          <p:cNvPr id="27" name="Shape 25"/>
          <p:cNvSpPr/>
          <p:nvPr/>
        </p:nvSpPr>
        <p:spPr>
          <a:xfrm>
            <a:off x="4681728" y="1463040"/>
            <a:ext cx="4251960" cy="694944"/>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4681728" y="1463040"/>
            <a:ext cx="64008" cy="694944"/>
          </a:xfrm>
          <a:prstGeom prst="rect">
            <a:avLst/>
          </a:prstGeom>
          <a:solidFill>
            <a:srgbClr val="1B2A4A"/>
          </a:solidFill>
          <a:ln w="12700">
            <a:solidFill>
              <a:srgbClr val="1B2A4A"/>
            </a:solidFill>
            <a:prstDash val="solid"/>
          </a:ln>
        </p:spPr>
      </p:sp>
      <p:sp>
        <p:nvSpPr>
          <p:cNvPr id="29" name="Shape 27"/>
          <p:cNvSpPr/>
          <p:nvPr/>
        </p:nvSpPr>
        <p:spPr>
          <a:xfrm>
            <a:off x="4773168" y="1609344"/>
            <a:ext cx="384048" cy="384048"/>
          </a:xfrm>
          <a:prstGeom prst="ellipse">
            <a:avLst/>
          </a:prstGeom>
          <a:solidFill>
            <a:srgbClr val="1B2A4A"/>
          </a:solidFill>
          <a:ln w="12700">
            <a:solidFill>
              <a:srgbClr val="1B2A4A"/>
            </a:solidFill>
            <a:prstDash val="solid"/>
          </a:ln>
        </p:spPr>
      </p:sp>
      <p:pic>
        <p:nvPicPr>
          <p:cNvPr id="30" name="Image 0" descr="preencoded.png">    </p:cNvPr>
          <p:cNvPicPr>
            <a:picLocks noChangeAspect="1"/>
          </p:cNvPicPr>
          <p:nvPr/>
        </p:nvPicPr>
        <p:blipFill>
          <a:blip r:embed="rId1"/>
          <a:stretch>
            <a:fillRect/>
          </a:stretch>
        </p:blipFill>
        <p:spPr>
          <a:xfrm>
            <a:off x="4837176" y="1673352"/>
            <a:ext cx="256032" cy="256032"/>
          </a:xfrm>
          <a:prstGeom prst="rect">
            <a:avLst/>
          </a:prstGeom>
        </p:spPr>
      </p:pic>
      <p:sp>
        <p:nvSpPr>
          <p:cNvPr id="31" name="Text 28"/>
          <p:cNvSpPr/>
          <p:nvPr/>
        </p:nvSpPr>
        <p:spPr>
          <a:xfrm>
            <a:off x="5230368" y="1536192"/>
            <a:ext cx="3584448" cy="237744"/>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Nuclear-Adjacent Power</a:t>
            </a:r>
            <a:endParaRPr lang="en-US" sz="1050" dirty="0"/>
          </a:p>
        </p:txBody>
      </p:sp>
      <p:sp>
        <p:nvSpPr>
          <p:cNvPr id="32" name="Text 29"/>
          <p:cNvSpPr/>
          <p:nvPr/>
        </p:nvSpPr>
        <p:spPr>
          <a:xfrm>
            <a:off x="5230368" y="1783080"/>
            <a:ext cx="3584448" cy="347472"/>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Proximity to Darlington &amp; Pickering. Faster grid connections vs. GTA (3–5 yr wait). Darlington SMR adds ~1,200 MW clean capacity by mid-2030s.</a:t>
            </a:r>
            <a:endParaRPr lang="en-US" sz="850" dirty="0"/>
          </a:p>
        </p:txBody>
      </p:sp>
      <p:sp>
        <p:nvSpPr>
          <p:cNvPr id="33" name="Shape 30"/>
          <p:cNvSpPr/>
          <p:nvPr/>
        </p:nvSpPr>
        <p:spPr>
          <a:xfrm>
            <a:off x="4681728" y="2240280"/>
            <a:ext cx="4251960" cy="694944"/>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34" name="Shape 31"/>
          <p:cNvSpPr/>
          <p:nvPr/>
        </p:nvSpPr>
        <p:spPr>
          <a:xfrm>
            <a:off x="4681728" y="2240280"/>
            <a:ext cx="64008" cy="694944"/>
          </a:xfrm>
          <a:prstGeom prst="rect">
            <a:avLst/>
          </a:prstGeom>
          <a:solidFill>
            <a:srgbClr val="2E6DA4"/>
          </a:solidFill>
          <a:ln w="12700">
            <a:solidFill>
              <a:srgbClr val="2E6DA4"/>
            </a:solidFill>
            <a:prstDash val="solid"/>
          </a:ln>
        </p:spPr>
      </p:sp>
      <p:sp>
        <p:nvSpPr>
          <p:cNvPr id="35" name="Shape 32"/>
          <p:cNvSpPr/>
          <p:nvPr/>
        </p:nvSpPr>
        <p:spPr>
          <a:xfrm>
            <a:off x="4773168" y="2386584"/>
            <a:ext cx="384048" cy="384048"/>
          </a:xfrm>
          <a:prstGeom prst="ellipse">
            <a:avLst/>
          </a:prstGeom>
          <a:solidFill>
            <a:srgbClr val="2E6DA4"/>
          </a:solidFill>
          <a:ln w="12700">
            <a:solidFill>
              <a:srgbClr val="2E6DA4"/>
            </a:solidFill>
            <a:prstDash val="solid"/>
          </a:ln>
        </p:spPr>
      </p:sp>
      <p:pic>
        <p:nvPicPr>
          <p:cNvPr id="36" name="Image 1" descr="preencoded.png">    </p:cNvPr>
          <p:cNvPicPr>
            <a:picLocks noChangeAspect="1"/>
          </p:cNvPicPr>
          <p:nvPr/>
        </p:nvPicPr>
        <p:blipFill>
          <a:blip r:embed="rId2"/>
          <a:stretch>
            <a:fillRect/>
          </a:stretch>
        </p:blipFill>
        <p:spPr>
          <a:xfrm>
            <a:off x="4837176" y="2450592"/>
            <a:ext cx="256032" cy="256032"/>
          </a:xfrm>
          <a:prstGeom prst="rect">
            <a:avLst/>
          </a:prstGeom>
        </p:spPr>
      </p:pic>
      <p:sp>
        <p:nvSpPr>
          <p:cNvPr id="37" name="Text 33"/>
          <p:cNvSpPr/>
          <p:nvPr/>
        </p:nvSpPr>
        <p:spPr>
          <a:xfrm>
            <a:off x="5230368" y="2313432"/>
            <a:ext cx="3584448" cy="237744"/>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Freshwater Cooling</a:t>
            </a:r>
            <a:endParaRPr lang="en-US" sz="1050" dirty="0"/>
          </a:p>
        </p:txBody>
      </p:sp>
      <p:sp>
        <p:nvSpPr>
          <p:cNvPr id="38" name="Text 34"/>
          <p:cNvSpPr/>
          <p:nvPr/>
        </p:nvSpPr>
        <p:spPr>
          <a:xfrm>
            <a:off x="5230368" y="2560320"/>
            <a:ext cx="3584448" cy="347472"/>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Lake Ontario &amp; St. Lawrence. Superior to Phoenix/Vegas where water access is a hard constraint already delaying projects.</a:t>
            </a:r>
            <a:endParaRPr lang="en-US" sz="850" dirty="0"/>
          </a:p>
        </p:txBody>
      </p:sp>
      <p:sp>
        <p:nvSpPr>
          <p:cNvPr id="39" name="Shape 35"/>
          <p:cNvSpPr/>
          <p:nvPr/>
        </p:nvSpPr>
        <p:spPr>
          <a:xfrm>
            <a:off x="4681728" y="3017520"/>
            <a:ext cx="4251960" cy="694944"/>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40" name="Shape 36"/>
          <p:cNvSpPr/>
          <p:nvPr/>
        </p:nvSpPr>
        <p:spPr>
          <a:xfrm>
            <a:off x="4681728" y="3017520"/>
            <a:ext cx="64008" cy="694944"/>
          </a:xfrm>
          <a:prstGeom prst="rect">
            <a:avLst/>
          </a:prstGeom>
          <a:solidFill>
            <a:srgbClr val="0D7A5F"/>
          </a:solidFill>
          <a:ln w="12700">
            <a:solidFill>
              <a:srgbClr val="0D7A5F"/>
            </a:solidFill>
            <a:prstDash val="solid"/>
          </a:ln>
        </p:spPr>
      </p:sp>
      <p:sp>
        <p:nvSpPr>
          <p:cNvPr id="41" name="Shape 37"/>
          <p:cNvSpPr/>
          <p:nvPr/>
        </p:nvSpPr>
        <p:spPr>
          <a:xfrm>
            <a:off x="4773168" y="3163824"/>
            <a:ext cx="384048" cy="384048"/>
          </a:xfrm>
          <a:prstGeom prst="ellipse">
            <a:avLst/>
          </a:prstGeom>
          <a:solidFill>
            <a:srgbClr val="0D7A5F"/>
          </a:solidFill>
          <a:ln w="12700">
            <a:solidFill>
              <a:srgbClr val="0D7A5F"/>
            </a:solidFill>
            <a:prstDash val="solid"/>
          </a:ln>
        </p:spPr>
      </p:sp>
      <p:pic>
        <p:nvPicPr>
          <p:cNvPr id="42" name="Image 2" descr="preencoded.png">    </p:cNvPr>
          <p:cNvPicPr>
            <a:picLocks noChangeAspect="1"/>
          </p:cNvPicPr>
          <p:nvPr/>
        </p:nvPicPr>
        <p:blipFill>
          <a:blip r:embed="rId3"/>
          <a:stretch>
            <a:fillRect/>
          </a:stretch>
        </p:blipFill>
        <p:spPr>
          <a:xfrm>
            <a:off x="4837176" y="3227832"/>
            <a:ext cx="256032" cy="256032"/>
          </a:xfrm>
          <a:prstGeom prst="rect">
            <a:avLst/>
          </a:prstGeom>
        </p:spPr>
      </p:pic>
      <p:sp>
        <p:nvSpPr>
          <p:cNvPr id="43" name="Text 38"/>
          <p:cNvSpPr/>
          <p:nvPr/>
        </p:nvSpPr>
        <p:spPr>
          <a:xfrm>
            <a:off x="5230368" y="3090672"/>
            <a:ext cx="3584448" cy="237744"/>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Land Cost Advantage</a:t>
            </a:r>
            <a:endParaRPr lang="en-US" sz="1050" dirty="0"/>
          </a:p>
        </p:txBody>
      </p:sp>
      <p:sp>
        <p:nvSpPr>
          <p:cNvPr id="44" name="Text 39"/>
          <p:cNvSpPr/>
          <p:nvPr/>
        </p:nvSpPr>
        <p:spPr>
          <a:xfrm>
            <a:off x="5230368" y="3337560"/>
            <a:ext cx="3584448" cy="347472"/>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Fraction of GTA pricing per acre. 50–200+ acre hyperscale sites available. Municipalities actively courting data centre investment.</a:t>
            </a:r>
            <a:endParaRPr lang="en-US" sz="850" dirty="0"/>
          </a:p>
        </p:txBody>
      </p:sp>
      <p:sp>
        <p:nvSpPr>
          <p:cNvPr id="45" name="Shape 40"/>
          <p:cNvSpPr/>
          <p:nvPr/>
        </p:nvSpPr>
        <p:spPr>
          <a:xfrm>
            <a:off x="4681728" y="3794760"/>
            <a:ext cx="4251960" cy="694944"/>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46" name="Shape 41"/>
          <p:cNvSpPr/>
          <p:nvPr/>
        </p:nvSpPr>
        <p:spPr>
          <a:xfrm>
            <a:off x="4681728" y="3794760"/>
            <a:ext cx="64008" cy="694944"/>
          </a:xfrm>
          <a:prstGeom prst="rect">
            <a:avLst/>
          </a:prstGeom>
          <a:solidFill>
            <a:srgbClr val="C9922A"/>
          </a:solidFill>
          <a:ln w="12700">
            <a:solidFill>
              <a:srgbClr val="C9922A"/>
            </a:solidFill>
            <a:prstDash val="solid"/>
          </a:ln>
        </p:spPr>
      </p:sp>
      <p:sp>
        <p:nvSpPr>
          <p:cNvPr id="47" name="Shape 42"/>
          <p:cNvSpPr/>
          <p:nvPr/>
        </p:nvSpPr>
        <p:spPr>
          <a:xfrm>
            <a:off x="4773168" y="3941064"/>
            <a:ext cx="384048" cy="384048"/>
          </a:xfrm>
          <a:prstGeom prst="ellipse">
            <a:avLst/>
          </a:prstGeom>
          <a:solidFill>
            <a:srgbClr val="C9922A"/>
          </a:solidFill>
          <a:ln w="12700">
            <a:solidFill>
              <a:srgbClr val="C9922A"/>
            </a:solidFill>
            <a:prstDash val="solid"/>
          </a:ln>
        </p:spPr>
      </p:sp>
      <p:pic>
        <p:nvPicPr>
          <p:cNvPr id="48" name="Image 3" descr="preencoded.png">    </p:cNvPr>
          <p:cNvPicPr>
            <a:picLocks noChangeAspect="1"/>
          </p:cNvPicPr>
          <p:nvPr/>
        </p:nvPicPr>
        <p:blipFill>
          <a:blip r:embed="rId4"/>
          <a:stretch>
            <a:fillRect/>
          </a:stretch>
        </p:blipFill>
        <p:spPr>
          <a:xfrm>
            <a:off x="4837176" y="4005072"/>
            <a:ext cx="256032" cy="256032"/>
          </a:xfrm>
          <a:prstGeom prst="rect">
            <a:avLst/>
          </a:prstGeom>
        </p:spPr>
      </p:pic>
      <p:sp>
        <p:nvSpPr>
          <p:cNvPr id="49" name="Text 43"/>
          <p:cNvSpPr/>
          <p:nvPr/>
        </p:nvSpPr>
        <p:spPr>
          <a:xfrm>
            <a:off x="5230368" y="3867912"/>
            <a:ext cx="3584448" cy="237744"/>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Government Receptivity</a:t>
            </a:r>
            <a:endParaRPr lang="en-US" sz="1050" dirty="0"/>
          </a:p>
        </p:txBody>
      </p:sp>
      <p:sp>
        <p:nvSpPr>
          <p:cNvPr id="50" name="Text 44"/>
          <p:cNvSpPr/>
          <p:nvPr/>
        </p:nvSpPr>
        <p:spPr>
          <a:xfrm>
            <a:off x="5230368" y="4114800"/>
            <a:ext cx="3584448" cy="347472"/>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Bill 40 fast-track grid approval. Canadian Sovereign AI Compute Strategy. Kingston &amp; Belleville offering streamlined entitlements.</a:t>
            </a:r>
            <a:endParaRPr lang="en-US" sz="850" dirty="0"/>
          </a:p>
        </p:txBody>
      </p:sp>
      <p:sp>
        <p:nvSpPr>
          <p:cNvPr id="51" name="Shape 45"/>
          <p:cNvSpPr/>
          <p:nvPr/>
        </p:nvSpPr>
        <p:spPr>
          <a:xfrm>
            <a:off x="0" y="4850892"/>
            <a:ext cx="9144000" cy="292608"/>
          </a:xfrm>
          <a:prstGeom prst="rect">
            <a:avLst/>
          </a:prstGeom>
          <a:solidFill>
            <a:srgbClr val="F4F6F8"/>
          </a:solidFill>
          <a:ln w="12700">
            <a:solidFill>
              <a:srgbClr val="E2E8EF"/>
            </a:solidFill>
            <a:prstDash val="solid"/>
          </a:ln>
        </p:spPr>
      </p:sp>
      <p:sp>
        <p:nvSpPr>
          <p:cNvPr id="52" name="Text 46"/>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53" name="Text 47"/>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Source: CBRE, IESO, Torys LLP, ENCOR Advisors 2025</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02  Eastern Ontario: First-Mover Advantage</a:t>
            </a:r>
            <a:endParaRPr lang="en-US" sz="2200" dirty="0"/>
          </a:p>
        </p:txBody>
      </p:sp>
      <p:sp>
        <p:nvSpPr>
          <p:cNvPr id="4" name="Text 2"/>
          <p:cNvSpPr/>
          <p:nvPr/>
        </p:nvSpPr>
        <p:spPr>
          <a:xfrm>
            <a:off x="347472" y="713232"/>
            <a:ext cx="8595360" cy="256032"/>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The confluence of power, water, land, and policy creates an opportunity not yet priced into Eastern Ontario industrial land markets.</a:t>
            </a:r>
            <a:endParaRPr lang="en-US" sz="1100" dirty="0"/>
          </a:p>
        </p:txBody>
      </p:sp>
      <p:sp>
        <p:nvSpPr>
          <p:cNvPr id="5" name="Shape 3"/>
          <p:cNvSpPr/>
          <p:nvPr/>
        </p:nvSpPr>
        <p:spPr>
          <a:xfrm>
            <a:off x="347472" y="1005840"/>
            <a:ext cx="8503920" cy="22860"/>
          </a:xfrm>
          <a:prstGeom prst="rect">
            <a:avLst/>
          </a:prstGeom>
          <a:solidFill>
            <a:srgbClr val="E2E8EF"/>
          </a:solidFill>
          <a:ln w="12700">
            <a:solidFill>
              <a:srgbClr val="E2E8EF"/>
            </a:solidFill>
            <a:prstDash val="solid"/>
          </a:ln>
        </p:spPr>
      </p:sp>
      <p:sp>
        <p:nvSpPr>
          <p:cNvPr id="6" name="Shape 4"/>
          <p:cNvSpPr/>
          <p:nvPr/>
        </p:nvSpPr>
        <p:spPr>
          <a:xfrm>
            <a:off x="347472" y="1115568"/>
            <a:ext cx="8503920" cy="868680"/>
          </a:xfrm>
          <a:prstGeom prst="rect">
            <a:avLst/>
          </a:prstGeom>
          <a:solidFill>
            <a:srgbClr val="D0EDE4"/>
          </a:solidFill>
          <a:ln w="12700">
            <a:solidFill>
              <a:srgbClr val="0D7A5F"/>
            </a:solidFill>
            <a:prstDash val="solid"/>
          </a:ln>
        </p:spPr>
      </p:sp>
      <p:sp>
        <p:nvSpPr>
          <p:cNvPr id="7" name="Shape 5"/>
          <p:cNvSpPr/>
          <p:nvPr/>
        </p:nvSpPr>
        <p:spPr>
          <a:xfrm>
            <a:off x="347472" y="1115568"/>
            <a:ext cx="91440" cy="868680"/>
          </a:xfrm>
          <a:prstGeom prst="rect">
            <a:avLst/>
          </a:prstGeom>
          <a:solidFill>
            <a:srgbClr val="0D7A5F"/>
          </a:solidFill>
          <a:ln w="12700">
            <a:solidFill>
              <a:srgbClr val="0D7A5F"/>
            </a:solidFill>
            <a:prstDash val="solid"/>
          </a:ln>
        </p:spPr>
      </p:sp>
      <p:sp>
        <p:nvSpPr>
          <p:cNvPr id="8" name="Text 6"/>
          <p:cNvSpPr/>
          <p:nvPr/>
        </p:nvSpPr>
        <p:spPr>
          <a:xfrm>
            <a:off x="530352" y="1143000"/>
            <a:ext cx="8229600" cy="256032"/>
          </a:xfrm>
          <a:prstGeom prst="rect">
            <a:avLst/>
          </a:prstGeom>
          <a:noFill/>
          <a:ln/>
        </p:spPr>
        <p:txBody>
          <a:bodyPr wrap="square" lIns="0" tIns="0" rIns="0" bIns="0" rtlCol="0" anchor="ctr"/>
          <a:lstStyle/>
          <a:p>
            <a:pPr indent="0" marL="0">
              <a:buNone/>
            </a:pPr>
            <a:r>
              <a:rPr lang="en-US" sz="1000" b="1" spc="200" kern="0" dirty="0">
                <a:solidFill>
                  <a:srgbClr val="0D7A5F"/>
                </a:solidFill>
                <a:latin typeface="Calibri" pitchFamily="34" charset="0"/>
                <a:ea typeface="Calibri" pitchFamily="34" charset="-122"/>
                <a:cs typeface="Calibri" pitchFamily="34" charset="-120"/>
              </a:rPr>
              <a:t>EASTERN ONTARIO INVESTMENT THESIS</a:t>
            </a:r>
            <a:endParaRPr lang="en-US" sz="1000" dirty="0"/>
          </a:p>
        </p:txBody>
      </p:sp>
      <p:sp>
        <p:nvSpPr>
          <p:cNvPr id="9" name="Text 7"/>
          <p:cNvSpPr/>
          <p:nvPr/>
        </p:nvSpPr>
        <p:spPr>
          <a:xfrm>
            <a:off x="530352" y="1389888"/>
            <a:ext cx="8229600" cy="54864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The confluence of nuclear-adjacent power, freshwater cooling, low land costs, and government receptivity creates a data centre development opportunity not yet fully priced into Eastern Ontario industrial land markets. As GTA constraints intensify, capital tracking the data centre demand wave will increasingly look east. First-mover advantage in securing sites with proven grid connection feasibility and water access will compound significantly.</a:t>
            </a:r>
            <a:endParaRPr lang="en-US" sz="950" dirty="0"/>
          </a:p>
        </p:txBody>
      </p:sp>
      <p:sp>
        <p:nvSpPr>
          <p:cNvPr id="10" name="Text 8"/>
          <p:cNvSpPr/>
          <p:nvPr/>
        </p:nvSpPr>
        <p:spPr>
          <a:xfrm>
            <a:off x="347472" y="2103120"/>
            <a:ext cx="8503920"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GTA vs. Eastern Ontario: Site Selection Comparison</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47472" y="2395728"/>
          <a:ext cx="8503920" cy="2194560"/>
        </p:xfrm>
        <a:graphic>
          <a:graphicData uri="http://schemas.openxmlformats.org/drawingml/2006/table">
            <a:tbl>
              <a:tblPr/>
              <a:tblGrid>
                <a:gridCol w="2011680"/>
                <a:gridCol w="3063240"/>
                <a:gridCol w="3063240"/>
              </a:tblGrid>
              <a:tr h="29260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Criteria</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1B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GTA / Toronto</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B8323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Eastern Ontario</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0D7A5F"/>
                    </a:solidFill>
                  </a:tcPr>
                </a:tc>
              </a:tr>
              <a:tr h="292608">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Grid connection timeline</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3–5+ years</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6–24 months</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Power cost</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High / constrained</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Lower; nuclear baseload</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Land cost (industrial)</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Water cooling access</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Limited urban</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Lake Ontario / St. Lawrence</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Government support</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Bill 40 (GTA priority)</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Active courtship + Bill 40</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Hyperscaler presence</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Established</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Emerging — first-mover window</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292608">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SMR catalyst (2030s)</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Indirect</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950" dirty="0">
                          <a:solidFill>
                            <a:srgbClr val="1B2A4A"/>
                          </a:solidFill>
                          <a:latin typeface="Calibri" pitchFamily="34" charset="0"/>
                          <a:ea typeface="Calibri" pitchFamily="34" charset="-122"/>
                          <a:cs typeface="Calibri" pitchFamily="34" charset="-120"/>
                        </a:rPr>
                        <a:t>Direct (Darlington adjacency)</a:t>
                      </a:r>
                      <a:endParaRPr lang="en-US" sz="9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bl>
          </a:graphicData>
        </a:graphic>
      </p:graphicFrame>
      <p:sp>
        <p:nvSpPr>
          <p:cNvPr id="12" name="Shape 9"/>
          <p:cNvSpPr/>
          <p:nvPr/>
        </p:nvSpPr>
        <p:spPr>
          <a:xfrm>
            <a:off x="0" y="4850892"/>
            <a:ext cx="9144000" cy="292608"/>
          </a:xfrm>
          <a:prstGeom prst="rect">
            <a:avLst/>
          </a:prstGeom>
          <a:solidFill>
            <a:srgbClr val="F4F6F8"/>
          </a:solidFill>
          <a:ln w="12700">
            <a:solidFill>
              <a:srgbClr val="E2E8EF"/>
            </a:solidFill>
            <a:prstDash val="solid"/>
          </a:ln>
        </p:spPr>
      </p:sp>
      <p:sp>
        <p:nvSpPr>
          <p:cNvPr id="13" name="Text 10"/>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14" name="Text 11"/>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Source: CBRE, ENCOR Advisors, Torys LLP 2025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03  The Risk Landscape: The Demand Paradox</a:t>
            </a:r>
            <a:endParaRPr lang="en-US" sz="2200" dirty="0"/>
          </a:p>
        </p:txBody>
      </p:sp>
      <p:sp>
        <p:nvSpPr>
          <p:cNvPr id="4" name="Text 2"/>
          <p:cNvSpPr/>
          <p:nvPr/>
        </p:nvSpPr>
        <p:spPr>
          <a:xfrm>
            <a:off x="347472" y="713232"/>
            <a:ext cx="8595360" cy="256032"/>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The structural demand case is real. The capital risk case is equally real. Both must be held simultaneously.</a:t>
            </a:r>
            <a:endParaRPr lang="en-US" sz="1100" dirty="0"/>
          </a:p>
        </p:txBody>
      </p:sp>
      <p:sp>
        <p:nvSpPr>
          <p:cNvPr id="5" name="Shape 3"/>
          <p:cNvSpPr/>
          <p:nvPr/>
        </p:nvSpPr>
        <p:spPr>
          <a:xfrm>
            <a:off x="347472" y="1005840"/>
            <a:ext cx="8503920" cy="22860"/>
          </a:xfrm>
          <a:prstGeom prst="rect">
            <a:avLst/>
          </a:prstGeom>
          <a:solidFill>
            <a:srgbClr val="E2E8EF"/>
          </a:solidFill>
          <a:ln w="12700">
            <a:solidFill>
              <a:srgbClr val="E2E8EF"/>
            </a:solidFill>
            <a:prstDash val="solid"/>
          </a:ln>
        </p:spPr>
      </p:sp>
      <p:sp>
        <p:nvSpPr>
          <p:cNvPr id="6" name="Shape 4"/>
          <p:cNvSpPr/>
          <p:nvPr/>
        </p:nvSpPr>
        <p:spPr>
          <a:xfrm>
            <a:off x="347472" y="1115568"/>
            <a:ext cx="4114800" cy="3611880"/>
          </a:xfrm>
          <a:prstGeom prst="rect">
            <a:avLst/>
          </a:prstGeom>
          <a:solidFill>
            <a:srgbClr val="FAE0E0"/>
          </a:solidFill>
          <a:ln w="12700">
            <a:solidFill>
              <a:srgbClr val="B83232"/>
            </a:solidFill>
            <a:prstDash val="solid"/>
          </a:ln>
        </p:spPr>
      </p:sp>
      <p:sp>
        <p:nvSpPr>
          <p:cNvPr id="7" name="Shape 5"/>
          <p:cNvSpPr/>
          <p:nvPr/>
        </p:nvSpPr>
        <p:spPr>
          <a:xfrm>
            <a:off x="347472" y="1115568"/>
            <a:ext cx="91440" cy="3611880"/>
          </a:xfrm>
          <a:prstGeom prst="rect">
            <a:avLst/>
          </a:prstGeom>
          <a:solidFill>
            <a:srgbClr val="B83232"/>
          </a:solidFill>
          <a:ln w="12700">
            <a:solidFill>
              <a:srgbClr val="B83232"/>
            </a:solidFill>
            <a:prstDash val="solid"/>
          </a:ln>
        </p:spPr>
      </p:sp>
      <p:sp>
        <p:nvSpPr>
          <p:cNvPr id="8" name="Text 6"/>
          <p:cNvSpPr/>
          <p:nvPr/>
        </p:nvSpPr>
        <p:spPr>
          <a:xfrm>
            <a:off x="530352" y="1170432"/>
            <a:ext cx="3840480" cy="292608"/>
          </a:xfrm>
          <a:prstGeom prst="rect">
            <a:avLst/>
          </a:prstGeom>
          <a:noFill/>
          <a:ln/>
        </p:spPr>
        <p:txBody>
          <a:bodyPr wrap="square" lIns="0" tIns="0" rIns="0" bIns="0" rtlCol="0" anchor="ctr"/>
          <a:lstStyle/>
          <a:p>
            <a:pPr indent="0" marL="0">
              <a:buNone/>
            </a:pPr>
            <a:r>
              <a:rPr lang="en-US" sz="1100" b="1" dirty="0">
                <a:solidFill>
                  <a:srgbClr val="B83232"/>
                </a:solidFill>
                <a:latin typeface="Calibri" pitchFamily="34" charset="0"/>
                <a:ea typeface="Calibri" pitchFamily="34" charset="-122"/>
                <a:cs typeface="Calibri" pitchFamily="34" charset="-120"/>
              </a:rPr>
              <a:t>⚠  THE BURRY THESIS</a:t>
            </a:r>
            <a:endParaRPr lang="en-US" sz="1100" dirty="0"/>
          </a:p>
        </p:txBody>
      </p:sp>
      <p:sp>
        <p:nvSpPr>
          <p:cNvPr id="9" name="Text 7"/>
          <p:cNvSpPr/>
          <p:nvPr/>
        </p:nvSpPr>
        <p:spPr>
          <a:xfrm>
            <a:off x="530352" y="1463040"/>
            <a:ext cx="3840480" cy="475488"/>
          </a:xfrm>
          <a:prstGeom prst="rect">
            <a:avLst/>
          </a:prstGeom>
          <a:noFill/>
          <a:ln/>
        </p:spPr>
        <p:txBody>
          <a:bodyPr wrap="square" lIns="0" tIns="0" rIns="0" bIns="0" rtlCol="0" anchor="ctr"/>
          <a:lstStyle/>
          <a:p>
            <a:pPr indent="0" marL="0">
              <a:buNone/>
            </a:pPr>
            <a:r>
              <a:rPr lang="en-US" sz="950" i="1" dirty="0">
                <a:solidFill>
                  <a:srgbClr val="111111"/>
                </a:solidFill>
                <a:latin typeface="Calibri" pitchFamily="34" charset="0"/>
                <a:ea typeface="Calibri" pitchFamily="34" charset="-122"/>
                <a:cs typeface="Calibri" pitchFamily="34" charset="-120"/>
              </a:rPr>
              <a:t>"Nvidia is Cisco. Supply-side gluttony."</a:t>
            </a:r>
            <a:endParaRPr lang="en-US" sz="950" dirty="0"/>
          </a:p>
          <a:p>
            <a:pPr indent="0" marL="0">
              <a:buNone/>
            </a:pPr>
            <a:r>
              <a:rPr lang="en-US" sz="950" i="1" dirty="0">
                <a:solidFill>
                  <a:srgbClr val="111111"/>
                </a:solidFill>
                <a:latin typeface="Calibri" pitchFamily="34" charset="0"/>
                <a:ea typeface="Calibri" pitchFamily="34" charset="-122"/>
                <a:cs typeface="Calibri" pitchFamily="34" charset="-120"/>
              </a:rPr>
              <a:t>— Michael Burry, Nov. 2025</a:t>
            </a:r>
            <a:endParaRPr lang="en-US" sz="950" dirty="0"/>
          </a:p>
        </p:txBody>
      </p:sp>
      <p:sp>
        <p:nvSpPr>
          <p:cNvPr id="10" name="Shape 8"/>
          <p:cNvSpPr/>
          <p:nvPr/>
        </p:nvSpPr>
        <p:spPr>
          <a:xfrm>
            <a:off x="530352" y="1956816"/>
            <a:ext cx="3749040" cy="27432"/>
          </a:xfrm>
          <a:prstGeom prst="rect">
            <a:avLst/>
          </a:prstGeom>
          <a:solidFill>
            <a:srgbClr val="B83232"/>
          </a:solidFill>
          <a:ln w="12700">
            <a:solidFill>
              <a:srgbClr val="B83232"/>
            </a:solidFill>
            <a:prstDash val="solid"/>
          </a:ln>
        </p:spPr>
      </p:sp>
      <p:sp>
        <p:nvSpPr>
          <p:cNvPr id="11" name="Text 9"/>
          <p:cNvSpPr/>
          <p:nvPr/>
        </p:nvSpPr>
        <p:spPr>
          <a:xfrm>
            <a:off x="566928" y="2029968"/>
            <a:ext cx="3749040" cy="475488"/>
          </a:xfrm>
          <a:prstGeom prst="rect">
            <a:avLst/>
          </a:prstGeom>
          <a:noFill/>
          <a:ln/>
        </p:spPr>
        <p:txBody>
          <a:bodyPr wrap="square" lIns="0" tIns="0" rIns="0" bIns="0" rtlCol="0" anchor="ctr"/>
          <a:lstStyle/>
          <a:p>
            <a:pPr marL="342900" indent="-342900">
              <a:buSzPct val="100000"/>
              <a:buChar char="•"/>
            </a:pPr>
            <a:r>
              <a:rPr lang="en-US" sz="900" dirty="0">
                <a:solidFill>
                  <a:srgbClr val="111111"/>
                </a:solidFill>
                <a:latin typeface="Calibri" pitchFamily="34" charset="0"/>
                <a:ea typeface="Calibri" pitchFamily="34" charset="-122"/>
                <a:cs typeface="Calibri" pitchFamily="34" charset="-120"/>
              </a:rPr>
              <a:t>Cisco surged 3,800% (1995–2000), then fell 80%+ as demand plateaued</a:t>
            </a:r>
            <a:endParaRPr lang="en-US" sz="900" dirty="0"/>
          </a:p>
        </p:txBody>
      </p:sp>
      <p:sp>
        <p:nvSpPr>
          <p:cNvPr id="12" name="Text 10"/>
          <p:cNvSpPr/>
          <p:nvPr/>
        </p:nvSpPr>
        <p:spPr>
          <a:xfrm>
            <a:off x="566928" y="2532888"/>
            <a:ext cx="3749040" cy="475488"/>
          </a:xfrm>
          <a:prstGeom prst="rect">
            <a:avLst/>
          </a:prstGeom>
          <a:noFill/>
          <a:ln/>
        </p:spPr>
        <p:txBody>
          <a:bodyPr wrap="square" lIns="0" tIns="0" rIns="0" bIns="0" rtlCol="0" anchor="ctr"/>
          <a:lstStyle/>
          <a:p>
            <a:pPr marL="342900" indent="-342900">
              <a:buSzPct val="100000"/>
              <a:buChar char="•"/>
            </a:pPr>
            <a:r>
              <a:rPr lang="en-US" sz="900" dirty="0">
                <a:solidFill>
                  <a:srgbClr val="111111"/>
                </a:solidFill>
                <a:latin typeface="Calibri" pitchFamily="34" charset="0"/>
                <a:ea typeface="Calibri" pitchFamily="34" charset="-122"/>
                <a:cs typeface="Calibri" pitchFamily="34" charset="-120"/>
              </a:rPr>
              <a:t>Circular AI financing: Nvidia → OpenAI → Microsoft Azure → Nvidia</a:t>
            </a:r>
            <a:endParaRPr lang="en-US" sz="900" dirty="0"/>
          </a:p>
        </p:txBody>
      </p:sp>
      <p:sp>
        <p:nvSpPr>
          <p:cNvPr id="13" name="Text 11"/>
          <p:cNvSpPr/>
          <p:nvPr/>
        </p:nvSpPr>
        <p:spPr>
          <a:xfrm>
            <a:off x="566928" y="3035808"/>
            <a:ext cx="3749040" cy="475488"/>
          </a:xfrm>
          <a:prstGeom prst="rect">
            <a:avLst/>
          </a:prstGeom>
          <a:noFill/>
          <a:ln/>
        </p:spPr>
        <p:txBody>
          <a:bodyPr wrap="square" lIns="0" tIns="0" rIns="0" bIns="0" rtlCol="0" anchor="ctr"/>
          <a:lstStyle/>
          <a:p>
            <a:pPr marL="342900" indent="-342900">
              <a:buSzPct val="100000"/>
              <a:buChar char="•"/>
            </a:pPr>
            <a:r>
              <a:rPr lang="en-US" sz="900" dirty="0">
                <a:solidFill>
                  <a:srgbClr val="111111"/>
                </a:solidFill>
                <a:latin typeface="Calibri" pitchFamily="34" charset="0"/>
                <a:ea typeface="Calibri" pitchFamily="34" charset="-122"/>
                <a:cs typeface="Calibri" pitchFamily="34" charset="-120"/>
              </a:rPr>
              <a:t>Bain: AI infra requires $2T in annual AI revenue by 2030 to justify investment — exceeds combined revenues of Amazon, Apple, Alphabet, Microsoft, Meta &amp; Nvidia (2024)</a:t>
            </a:r>
            <a:endParaRPr lang="en-US" sz="900" dirty="0"/>
          </a:p>
        </p:txBody>
      </p:sp>
      <p:sp>
        <p:nvSpPr>
          <p:cNvPr id="14" name="Text 12"/>
          <p:cNvSpPr/>
          <p:nvPr/>
        </p:nvSpPr>
        <p:spPr>
          <a:xfrm>
            <a:off x="566928" y="3538728"/>
            <a:ext cx="3749040" cy="475488"/>
          </a:xfrm>
          <a:prstGeom prst="rect">
            <a:avLst/>
          </a:prstGeom>
          <a:noFill/>
          <a:ln/>
        </p:spPr>
        <p:txBody>
          <a:bodyPr wrap="square" lIns="0" tIns="0" rIns="0" bIns="0" rtlCol="0" anchor="ctr"/>
          <a:lstStyle/>
          <a:p>
            <a:pPr marL="342900" indent="-342900">
              <a:buSzPct val="100000"/>
              <a:buChar char="•"/>
            </a:pPr>
            <a:r>
              <a:rPr lang="en-US" sz="900" dirty="0">
                <a:solidFill>
                  <a:srgbClr val="111111"/>
                </a:solidFill>
                <a:latin typeface="Calibri" pitchFamily="34" charset="0"/>
                <a:ea typeface="Calibri" pitchFamily="34" charset="-122"/>
                <a:cs typeface="Calibri" pitchFamily="34" charset="-120"/>
              </a:rPr>
              <a:t>Goldman Sachs: 5 warning signs mirroring 1997 dot-com build-up</a:t>
            </a:r>
            <a:endParaRPr lang="en-US" sz="900" dirty="0"/>
          </a:p>
        </p:txBody>
      </p:sp>
      <p:sp>
        <p:nvSpPr>
          <p:cNvPr id="15" name="Text 13"/>
          <p:cNvSpPr/>
          <p:nvPr/>
        </p:nvSpPr>
        <p:spPr>
          <a:xfrm>
            <a:off x="566928" y="4041648"/>
            <a:ext cx="3749040" cy="475488"/>
          </a:xfrm>
          <a:prstGeom prst="rect">
            <a:avLst/>
          </a:prstGeom>
          <a:noFill/>
          <a:ln/>
        </p:spPr>
        <p:txBody>
          <a:bodyPr wrap="square" lIns="0" tIns="0" rIns="0" bIns="0" rtlCol="0" anchor="ctr"/>
          <a:lstStyle/>
          <a:p>
            <a:pPr marL="342900" indent="-342900">
              <a:buSzPct val="100000"/>
              <a:buChar char="•"/>
            </a:pPr>
            <a:r>
              <a:rPr lang="en-US" sz="900" dirty="0">
                <a:solidFill>
                  <a:srgbClr val="111111"/>
                </a:solidFill>
                <a:latin typeface="Calibri" pitchFamily="34" charset="0"/>
                <a:ea typeface="Calibri" pitchFamily="34" charset="-122"/>
                <a:cs typeface="Calibri" pitchFamily="34" charset="-120"/>
              </a:rPr>
              <a:t>OpenAI burning $12B/quarter; not sustainable without revenue acceleration</a:t>
            </a:r>
            <a:endParaRPr lang="en-US" sz="900" dirty="0"/>
          </a:p>
        </p:txBody>
      </p:sp>
      <p:sp>
        <p:nvSpPr>
          <p:cNvPr id="16" name="Text 14"/>
          <p:cNvSpPr/>
          <p:nvPr/>
        </p:nvSpPr>
        <p:spPr>
          <a:xfrm>
            <a:off x="4681728" y="1115568"/>
            <a:ext cx="425196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Underwriting Risk Flags</a:t>
            </a:r>
            <a:endParaRPr lang="en-US" sz="1200" dirty="0"/>
          </a:p>
        </p:txBody>
      </p:sp>
      <p:sp>
        <p:nvSpPr>
          <p:cNvPr id="17" name="Shape 15"/>
          <p:cNvSpPr/>
          <p:nvPr/>
        </p:nvSpPr>
        <p:spPr>
          <a:xfrm>
            <a:off x="4681728" y="1463040"/>
            <a:ext cx="4251960" cy="694944"/>
          </a:xfrm>
          <a:prstGeom prst="rect">
            <a:avLst/>
          </a:prstGeom>
          <a:solidFill>
            <a:srgbClr val="FFF3CD"/>
          </a:solidFill>
          <a:ln w="9525">
            <a:solidFill>
              <a:srgbClr val="C9922A"/>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681728" y="1463040"/>
            <a:ext cx="64008" cy="694944"/>
          </a:xfrm>
          <a:prstGeom prst="rect">
            <a:avLst/>
          </a:prstGeom>
          <a:solidFill>
            <a:srgbClr val="C9922A"/>
          </a:solidFill>
          <a:ln w="12700">
            <a:solidFill>
              <a:srgbClr val="C9922A"/>
            </a:solidFill>
            <a:prstDash val="solid"/>
          </a:ln>
        </p:spPr>
      </p:sp>
      <p:sp>
        <p:nvSpPr>
          <p:cNvPr id="19" name="Text 17"/>
          <p:cNvSpPr/>
          <p:nvPr/>
        </p:nvSpPr>
        <p:spPr>
          <a:xfrm>
            <a:off x="4791456" y="1536192"/>
            <a:ext cx="4023360" cy="237744"/>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Tenant Concentration</a:t>
            </a:r>
            <a:endParaRPr lang="en-US" sz="1050" dirty="0"/>
          </a:p>
        </p:txBody>
      </p:sp>
      <p:sp>
        <p:nvSpPr>
          <p:cNvPr id="20" name="Text 18"/>
          <p:cNvSpPr/>
          <p:nvPr/>
        </p:nvSpPr>
        <p:spPr>
          <a:xfrm>
            <a:off x="4791456" y="1783080"/>
            <a:ext cx="4023360" cy="347472"/>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Hyperscalers = vast majority of premium demand. One capex pullback → outsized net absorption impact.</a:t>
            </a:r>
            <a:endParaRPr lang="en-US" sz="850" dirty="0"/>
          </a:p>
        </p:txBody>
      </p:sp>
      <p:sp>
        <p:nvSpPr>
          <p:cNvPr id="21" name="Shape 19"/>
          <p:cNvSpPr/>
          <p:nvPr/>
        </p:nvSpPr>
        <p:spPr>
          <a:xfrm>
            <a:off x="4681728" y="2240280"/>
            <a:ext cx="4251960" cy="694944"/>
          </a:xfrm>
          <a:prstGeom prst="rect">
            <a:avLst/>
          </a:prstGeom>
          <a:solidFill>
            <a:srgbClr val="FFF3CD"/>
          </a:solidFill>
          <a:ln w="9525">
            <a:solidFill>
              <a:srgbClr val="C9922A"/>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4681728" y="2240280"/>
            <a:ext cx="64008" cy="694944"/>
          </a:xfrm>
          <a:prstGeom prst="rect">
            <a:avLst/>
          </a:prstGeom>
          <a:solidFill>
            <a:srgbClr val="C9922A"/>
          </a:solidFill>
          <a:ln w="12700">
            <a:solidFill>
              <a:srgbClr val="C9922A"/>
            </a:solidFill>
            <a:prstDash val="solid"/>
          </a:ln>
        </p:spPr>
      </p:sp>
      <p:sp>
        <p:nvSpPr>
          <p:cNvPr id="23" name="Text 21"/>
          <p:cNvSpPr/>
          <p:nvPr/>
        </p:nvSpPr>
        <p:spPr>
          <a:xfrm>
            <a:off x="4791456" y="2313432"/>
            <a:ext cx="4023360" cy="237744"/>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Power Delivery Delays</a:t>
            </a:r>
            <a:endParaRPr lang="en-US" sz="1050" dirty="0"/>
          </a:p>
        </p:txBody>
      </p:sp>
      <p:sp>
        <p:nvSpPr>
          <p:cNvPr id="24" name="Text 22"/>
          <p:cNvSpPr/>
          <p:nvPr/>
        </p:nvSpPr>
        <p:spPr>
          <a:xfrm>
            <a:off x="4791456" y="2560320"/>
            <a:ext cx="4023360" cy="347472"/>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Ontario grid connections extending 36–48 months. Projects underwritten on 18-month assumptions face severe carry cost overruns.</a:t>
            </a:r>
            <a:endParaRPr lang="en-US" sz="850" dirty="0"/>
          </a:p>
        </p:txBody>
      </p:sp>
      <p:sp>
        <p:nvSpPr>
          <p:cNvPr id="25" name="Shape 23"/>
          <p:cNvSpPr/>
          <p:nvPr/>
        </p:nvSpPr>
        <p:spPr>
          <a:xfrm>
            <a:off x="4681728" y="3017520"/>
            <a:ext cx="4251960" cy="694944"/>
          </a:xfrm>
          <a:prstGeom prst="rect">
            <a:avLst/>
          </a:prstGeom>
          <a:solidFill>
            <a:srgbClr val="FFF3CD"/>
          </a:solidFill>
          <a:ln w="9525">
            <a:solidFill>
              <a:srgbClr val="C9922A"/>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4681728" y="3017520"/>
            <a:ext cx="64008" cy="694944"/>
          </a:xfrm>
          <a:prstGeom prst="rect">
            <a:avLst/>
          </a:prstGeom>
          <a:solidFill>
            <a:srgbClr val="C9922A"/>
          </a:solidFill>
          <a:ln w="12700">
            <a:solidFill>
              <a:srgbClr val="C9922A"/>
            </a:solidFill>
            <a:prstDash val="solid"/>
          </a:ln>
        </p:spPr>
      </p:sp>
      <p:sp>
        <p:nvSpPr>
          <p:cNvPr id="27" name="Text 25"/>
          <p:cNvSpPr/>
          <p:nvPr/>
        </p:nvSpPr>
        <p:spPr>
          <a:xfrm>
            <a:off x="4791456" y="3090672"/>
            <a:ext cx="4023360" cy="237744"/>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Development Cost Inflation</a:t>
            </a:r>
            <a:endParaRPr lang="en-US" sz="1050" dirty="0"/>
          </a:p>
        </p:txBody>
      </p:sp>
      <p:sp>
        <p:nvSpPr>
          <p:cNvPr id="28" name="Text 26"/>
          <p:cNvSpPr/>
          <p:nvPr/>
        </p:nvSpPr>
        <p:spPr>
          <a:xfrm>
            <a:off x="4791456" y="3337560"/>
            <a:ext cx="4023360" cy="347472"/>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GPU density: 5–10 kW/rack → 50–100 kW/rack. 2022-vintage cost assumptions are materially understated.</a:t>
            </a:r>
            <a:endParaRPr lang="en-US" sz="850" dirty="0"/>
          </a:p>
        </p:txBody>
      </p:sp>
      <p:sp>
        <p:nvSpPr>
          <p:cNvPr id="29" name="Shape 27"/>
          <p:cNvSpPr/>
          <p:nvPr/>
        </p:nvSpPr>
        <p:spPr>
          <a:xfrm>
            <a:off x="4681728" y="3794760"/>
            <a:ext cx="4251960" cy="694944"/>
          </a:xfrm>
          <a:prstGeom prst="rect">
            <a:avLst/>
          </a:prstGeom>
          <a:solidFill>
            <a:srgbClr val="FFF3CD"/>
          </a:solidFill>
          <a:ln w="9525">
            <a:solidFill>
              <a:srgbClr val="C9922A"/>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4681728" y="3794760"/>
            <a:ext cx="64008" cy="694944"/>
          </a:xfrm>
          <a:prstGeom prst="rect">
            <a:avLst/>
          </a:prstGeom>
          <a:solidFill>
            <a:srgbClr val="C9922A"/>
          </a:solidFill>
          <a:ln w="12700">
            <a:solidFill>
              <a:srgbClr val="C9922A"/>
            </a:solidFill>
            <a:prstDash val="solid"/>
          </a:ln>
        </p:spPr>
      </p:sp>
      <p:sp>
        <p:nvSpPr>
          <p:cNvPr id="31" name="Text 29"/>
          <p:cNvSpPr/>
          <p:nvPr/>
        </p:nvSpPr>
        <p:spPr>
          <a:xfrm>
            <a:off x="4791456" y="3867912"/>
            <a:ext cx="4023360" cy="237744"/>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Cap Rate Expansion</a:t>
            </a:r>
            <a:endParaRPr lang="en-US" sz="1050" dirty="0"/>
          </a:p>
        </p:txBody>
      </p:sp>
      <p:sp>
        <p:nvSpPr>
          <p:cNvPr id="32" name="Text 30"/>
          <p:cNvSpPr/>
          <p:nvPr/>
        </p:nvSpPr>
        <p:spPr>
          <a:xfrm>
            <a:off x="4791456" y="4114800"/>
            <a:ext cx="4023360" cy="347472"/>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2021–24 compression was partly rate-driven. Sustained higher-rate environment warrants re-pricing regardless of demand.</a:t>
            </a:r>
            <a:endParaRPr lang="en-US" sz="850" dirty="0"/>
          </a:p>
        </p:txBody>
      </p:sp>
      <p:sp>
        <p:nvSpPr>
          <p:cNvPr id="33" name="Shape 31"/>
          <p:cNvSpPr/>
          <p:nvPr/>
        </p:nvSpPr>
        <p:spPr>
          <a:xfrm>
            <a:off x="0" y="4850892"/>
            <a:ext cx="9144000" cy="292608"/>
          </a:xfrm>
          <a:prstGeom prst="rect">
            <a:avLst/>
          </a:prstGeom>
          <a:solidFill>
            <a:srgbClr val="F4F6F8"/>
          </a:solidFill>
          <a:ln w="12700">
            <a:solidFill>
              <a:srgbClr val="E2E8EF"/>
            </a:solidFill>
            <a:prstDash val="solid"/>
          </a:ln>
        </p:spPr>
      </p:sp>
      <p:sp>
        <p:nvSpPr>
          <p:cNvPr id="34" name="Text 32"/>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35" name="Text 33"/>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Source: Burry Substack, Bain/MIT Tech Review, Goldman Sachs, IESO 2025</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03  Dot-Com Parallel: Infrastructure Endures</a:t>
            </a:r>
            <a:endParaRPr lang="en-US" sz="2200" dirty="0"/>
          </a:p>
        </p:txBody>
      </p:sp>
      <p:sp>
        <p:nvSpPr>
          <p:cNvPr id="4" name="Text 2"/>
          <p:cNvSpPr/>
          <p:nvPr/>
        </p:nvSpPr>
        <p:spPr>
          <a:xfrm>
            <a:off x="347472" y="713232"/>
            <a:ext cx="8595360" cy="256032"/>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History shows physical infrastructure built during speculative cycles often outlasts the speculation — but selectivity is everything.</a:t>
            </a:r>
            <a:endParaRPr lang="en-US" sz="1100" dirty="0"/>
          </a:p>
        </p:txBody>
      </p:sp>
      <p:sp>
        <p:nvSpPr>
          <p:cNvPr id="5" name="Shape 3"/>
          <p:cNvSpPr/>
          <p:nvPr/>
        </p:nvSpPr>
        <p:spPr>
          <a:xfrm>
            <a:off x="347472" y="1005840"/>
            <a:ext cx="8503920" cy="22860"/>
          </a:xfrm>
          <a:prstGeom prst="rect">
            <a:avLst/>
          </a:prstGeom>
          <a:solidFill>
            <a:srgbClr val="E2E8EF"/>
          </a:solidFill>
          <a:ln w="12700">
            <a:solidFill>
              <a:srgbClr val="E2E8EF"/>
            </a:solidFill>
            <a:prstDash val="solid"/>
          </a:ln>
        </p:spPr>
      </p:sp>
      <p:sp>
        <p:nvSpPr>
          <p:cNvPr id="6" name="Text 4"/>
          <p:cNvSpPr/>
          <p:nvPr/>
        </p:nvSpPr>
        <p:spPr>
          <a:xfrm>
            <a:off x="347472" y="1115568"/>
            <a:ext cx="4663440" cy="256032"/>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Office Market Collapse Post Dot-Com (% Vacancy)</a:t>
            </a:r>
            <a:endParaRPr lang="en-US" sz="1100" dirty="0"/>
          </a:p>
        </p:txBody>
      </p:sp>
      <p:graphicFrame>
        <p:nvGraphicFramePr>
          <p:cNvPr id="7" name="Chart 0" descr=""/>
          <p:cNvGraphicFramePr/>
          <p:nvPr/>
        </p:nvGraphicFramePr>
        <p:xfrm>
          <a:off x="347472" y="1389888"/>
          <a:ext cx="4663440" cy="2377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347472" y="3813048"/>
            <a:ext cx="4663440" cy="292608"/>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Asking rents fell 56% (SF) and 31% (Boston). Recovery took ~15 years.</a:t>
            </a:r>
            <a:endParaRPr lang="en-US" sz="850" dirty="0"/>
          </a:p>
        </p:txBody>
      </p:sp>
      <p:sp>
        <p:nvSpPr>
          <p:cNvPr id="9" name="Text 6"/>
          <p:cNvSpPr/>
          <p:nvPr/>
        </p:nvSpPr>
        <p:spPr>
          <a:xfrm>
            <a:off x="5230368" y="1115568"/>
            <a:ext cx="3703320" cy="256032"/>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Dot-Com vs. AI Cycle Comparison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30368" y="1389888"/>
          <a:ext cx="3703320" cy="2377440"/>
        </p:xfrm>
        <a:graphic>
          <a:graphicData uri="http://schemas.openxmlformats.org/drawingml/2006/table">
            <a:tbl>
              <a:tblPr/>
              <a:tblGrid>
                <a:gridCol w="1143000"/>
                <a:gridCol w="1280160"/>
                <a:gridCol w="1280160"/>
              </a:tblGrid>
              <a:tr h="34747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Factor</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1B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Dot-Com 2000</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B8323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AI Cycle 2026</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0D7A5F"/>
                    </a:solidFill>
                  </a:tcPr>
                </a:tc>
              </a:tr>
              <a:tr h="347472">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CRE exposure</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Office (failed tenants)</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Data centres (hard infra)</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347472">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Tenant quality</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VC-backed startups</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Microsoft, Google, Amazon</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347472">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Lease structure</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3–5 yr; many defaulted</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15–20 yr NNN; hyperscalers</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347472">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Infra legacy</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Fibre → broadband economy</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Data centres → AI economy</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r h="347472">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Ontario impact</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Office oversupply</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c>
                  <a:txBody>
                    <a:bodyPr/>
                    <a:lstStyle/>
                    <a:p>
                      <a:pPr indent="0" marL="0">
                        <a:buNone/>
                      </a:pPr>
                      <a:r>
                        <a:rPr lang="en-US" sz="850" dirty="0">
                          <a:solidFill>
                            <a:srgbClr val="1B2A4A"/>
                          </a:solidFill>
                          <a:latin typeface="Calibri" pitchFamily="34" charset="0"/>
                          <a:ea typeface="Calibri" pitchFamily="34" charset="-122"/>
                          <a:cs typeface="Calibri" pitchFamily="34" charset="-120"/>
                        </a:rPr>
                        <a:t>Industrial land scarcity</a:t>
                      </a:r>
                      <a:endParaRPr lang="en-US" sz="850" dirty="0">
                        <a:latin typeface="Calibri" charset="0"/>
                        <a:ea typeface="Calibri" charset="0"/>
                        <a:cs typeface="Calibri" charset="0"/>
                      </a:endParaRPr>
                    </a:p>
                  </a:txBody>
                  <a:tcPr marL="91440" marR="91440" marT="45720" marB="45720" anchor="ctr">
                    <a:lnL w="6350" cap="flat" cmpd="sng" algn="ctr">
                      <a:solidFill>
                        <a:srgbClr val="E2E8EF"/>
                      </a:solidFill>
                      <a:prstDash val="solid"/>
                      <a:round/>
                      <a:headEnd type="none" w="med" len="med"/>
                      <a:tailEnd type="none" w="med" len="med"/>
                    </a:lnL>
                    <a:lnR w="6350" cap="flat" cmpd="sng" algn="ctr">
                      <a:solidFill>
                        <a:srgbClr val="E2E8EF"/>
                      </a:solidFill>
                      <a:prstDash val="solid"/>
                      <a:round/>
                      <a:headEnd type="none" w="med" len="med"/>
                      <a:tailEnd type="none" w="med" len="med"/>
                    </a:lnR>
                    <a:lnT w="6350" cap="flat" cmpd="sng" algn="ctr">
                      <a:solidFill>
                        <a:srgbClr val="E2E8EF"/>
                      </a:solidFill>
                      <a:prstDash val="solid"/>
                      <a:round/>
                      <a:headEnd type="none" w="med" len="med"/>
                      <a:tailEnd type="none" w="med" len="med"/>
                    </a:lnT>
                    <a:lnB w="6350" cap="flat" cmpd="sng" algn="ctr">
                      <a:solidFill>
                        <a:srgbClr val="E2E8EF"/>
                      </a:solidFill>
                      <a:prstDash val="solid"/>
                      <a:round/>
                      <a:headEnd type="none" w="med" len="med"/>
                      <a:tailEnd type="none" w="med" len="med"/>
                    </a:lnB>
                    <a:solidFill>
                      <a:srgbClr val="FFFFFF"/>
                    </a:solidFill>
                  </a:tcPr>
                </a:tc>
              </a:tr>
            </a:tbl>
          </a:graphicData>
        </a:graphic>
      </p:graphicFrame>
      <p:sp>
        <p:nvSpPr>
          <p:cNvPr id="11" name="Shape 7"/>
          <p:cNvSpPr/>
          <p:nvPr/>
        </p:nvSpPr>
        <p:spPr>
          <a:xfrm>
            <a:off x="5230368" y="3813048"/>
            <a:ext cx="3703320" cy="749808"/>
          </a:xfrm>
          <a:prstGeom prst="rect">
            <a:avLst/>
          </a:prstGeom>
          <a:solidFill>
            <a:srgbClr val="D0EDE4"/>
          </a:solidFill>
          <a:ln w="12700">
            <a:solidFill>
              <a:srgbClr val="0D7A5F"/>
            </a:solidFill>
            <a:prstDash val="solid"/>
          </a:ln>
        </p:spPr>
      </p:sp>
      <p:sp>
        <p:nvSpPr>
          <p:cNvPr id="12" name="Shape 8"/>
          <p:cNvSpPr/>
          <p:nvPr/>
        </p:nvSpPr>
        <p:spPr>
          <a:xfrm>
            <a:off x="5230368" y="3813048"/>
            <a:ext cx="73152" cy="749808"/>
          </a:xfrm>
          <a:prstGeom prst="rect">
            <a:avLst/>
          </a:prstGeom>
          <a:solidFill>
            <a:srgbClr val="0D7A5F"/>
          </a:solidFill>
          <a:ln w="12700">
            <a:solidFill>
              <a:srgbClr val="0D7A5F"/>
            </a:solidFill>
            <a:prstDash val="solid"/>
          </a:ln>
        </p:spPr>
      </p:sp>
      <p:sp>
        <p:nvSpPr>
          <p:cNvPr id="13" name="Text 9"/>
          <p:cNvSpPr/>
          <p:nvPr/>
        </p:nvSpPr>
        <p:spPr>
          <a:xfrm>
            <a:off x="5340096" y="3840480"/>
            <a:ext cx="3547872" cy="201168"/>
          </a:xfrm>
          <a:prstGeom prst="rect">
            <a:avLst/>
          </a:prstGeom>
          <a:noFill/>
          <a:ln/>
        </p:spPr>
        <p:txBody>
          <a:bodyPr wrap="square" lIns="0" tIns="0" rIns="0" bIns="0" rtlCol="0" anchor="ctr"/>
          <a:lstStyle/>
          <a:p>
            <a:pPr indent="0" marL="0">
              <a:buNone/>
            </a:pPr>
            <a:r>
              <a:rPr lang="en-US" sz="850" b="1" spc="200" kern="0" dirty="0">
                <a:solidFill>
                  <a:srgbClr val="0D7A5F"/>
                </a:solidFill>
                <a:latin typeface="Calibri" pitchFamily="34" charset="0"/>
                <a:ea typeface="Calibri" pitchFamily="34" charset="-122"/>
                <a:cs typeface="Calibri" pitchFamily="34" charset="-120"/>
              </a:rPr>
              <a:t>KEY INSIGHT</a:t>
            </a:r>
            <a:endParaRPr lang="en-US" sz="850" dirty="0"/>
          </a:p>
        </p:txBody>
      </p:sp>
      <p:sp>
        <p:nvSpPr>
          <p:cNvPr id="14" name="Text 10"/>
          <p:cNvSpPr/>
          <p:nvPr/>
        </p:nvSpPr>
        <p:spPr>
          <a:xfrm>
            <a:off x="5340096" y="4041648"/>
            <a:ext cx="3547872" cy="475488"/>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Data centres are the fibre of the AI economy. Even if AI equity multiples compress, hard infrastructure with institutional tenants and long-term leases retains value.</a:t>
            </a:r>
            <a:endParaRPr lang="en-US" sz="850" dirty="0"/>
          </a:p>
        </p:txBody>
      </p:sp>
      <p:sp>
        <p:nvSpPr>
          <p:cNvPr id="15" name="Shape 11"/>
          <p:cNvSpPr/>
          <p:nvPr/>
        </p:nvSpPr>
        <p:spPr>
          <a:xfrm>
            <a:off x="0" y="4850892"/>
            <a:ext cx="9144000" cy="292608"/>
          </a:xfrm>
          <a:prstGeom prst="rect">
            <a:avLst/>
          </a:prstGeom>
          <a:solidFill>
            <a:srgbClr val="F4F6F8"/>
          </a:solidFill>
          <a:ln w="12700">
            <a:solidFill>
              <a:srgbClr val="E2E8EF"/>
            </a:solidFill>
            <a:prstDash val="solid"/>
          </a:ln>
        </p:spPr>
      </p:sp>
      <p:sp>
        <p:nvSpPr>
          <p:cNvPr id="16" name="Text 12"/>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17" name="Text 13"/>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Source: CBRE, Cushman &amp; Wakefield, AEW Capital, Urban Land Magazine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04  Impact to CBRE: Opportunity &amp; Exposure</a:t>
            </a:r>
            <a:endParaRPr lang="en-US" sz="2200" dirty="0"/>
          </a:p>
        </p:txBody>
      </p:sp>
      <p:sp>
        <p:nvSpPr>
          <p:cNvPr id="4" name="Text 2"/>
          <p:cNvSpPr/>
          <p:nvPr/>
        </p:nvSpPr>
        <p:spPr>
          <a:xfrm>
            <a:off x="347472" y="713232"/>
            <a:ext cx="8595360" cy="256032"/>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The Eastern Ontario data centre cycle creates significant advisory, leasing, and capital markets opportunities — with reputational risk attached.</a:t>
            </a:r>
            <a:endParaRPr lang="en-US" sz="1100" dirty="0"/>
          </a:p>
        </p:txBody>
      </p:sp>
      <p:sp>
        <p:nvSpPr>
          <p:cNvPr id="5" name="Shape 3"/>
          <p:cNvSpPr/>
          <p:nvPr/>
        </p:nvSpPr>
        <p:spPr>
          <a:xfrm>
            <a:off x="347472" y="1005840"/>
            <a:ext cx="8503920" cy="22860"/>
          </a:xfrm>
          <a:prstGeom prst="rect">
            <a:avLst/>
          </a:prstGeom>
          <a:solidFill>
            <a:srgbClr val="E2E8EF"/>
          </a:solidFill>
          <a:ln w="12700">
            <a:solidFill>
              <a:srgbClr val="E2E8EF"/>
            </a:solidFill>
            <a:prstDash val="solid"/>
          </a:ln>
        </p:spPr>
      </p:sp>
      <p:sp>
        <p:nvSpPr>
          <p:cNvPr id="6" name="Shape 4"/>
          <p:cNvSpPr/>
          <p:nvPr/>
        </p:nvSpPr>
        <p:spPr>
          <a:xfrm>
            <a:off x="347472" y="1115568"/>
            <a:ext cx="2743200" cy="1463040"/>
          </a:xfrm>
          <a:prstGeom prst="rect">
            <a:avLst/>
          </a:prstGeom>
          <a:solidFill>
            <a:srgbClr val="D0EDE4"/>
          </a:solidFill>
          <a:ln w="9525">
            <a:solidFill>
              <a:srgbClr val="0D7A5F"/>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47472" y="1115568"/>
            <a:ext cx="73152" cy="1463040"/>
          </a:xfrm>
          <a:prstGeom prst="rect">
            <a:avLst/>
          </a:prstGeom>
          <a:solidFill>
            <a:srgbClr val="0D7A5F"/>
          </a:solidFill>
          <a:ln w="12700">
            <a:solidFill>
              <a:srgbClr val="0D7A5F"/>
            </a:solidFill>
            <a:prstDash val="solid"/>
          </a:ln>
        </p:spPr>
      </p:sp>
      <p:sp>
        <p:nvSpPr>
          <p:cNvPr id="8" name="Text 6"/>
          <p:cNvSpPr/>
          <p:nvPr/>
        </p:nvSpPr>
        <p:spPr>
          <a:xfrm>
            <a:off x="530352" y="1225296"/>
            <a:ext cx="2487168"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Industrial Leasing</a:t>
            </a:r>
            <a:endParaRPr lang="en-US" sz="1100" dirty="0"/>
          </a:p>
        </p:txBody>
      </p:sp>
      <p:sp>
        <p:nvSpPr>
          <p:cNvPr id="9" name="Text 7"/>
          <p:cNvSpPr/>
          <p:nvPr/>
        </p:nvSpPr>
        <p:spPr>
          <a:xfrm>
            <a:off x="530352" y="1536192"/>
            <a:ext cx="2487168" cy="932688"/>
          </a:xfrm>
          <a:prstGeom prst="rect">
            <a:avLst/>
          </a:prstGeom>
          <a:noFill/>
          <a:ln/>
        </p:spPr>
        <p:txBody>
          <a:bodyPr wrap="square" lIns="0" tIns="0" rIns="0" bIns="0" rtlCol="0" anchor="ctr"/>
          <a:lstStyle/>
          <a:p>
            <a:pPr indent="0" marL="0">
              <a:buNone/>
            </a:pPr>
            <a:r>
              <a:rPr lang="en-US" sz="900" dirty="0">
                <a:solidFill>
                  <a:srgbClr val="111111"/>
                </a:solidFill>
                <a:latin typeface="Calibri" pitchFamily="34" charset="0"/>
                <a:ea typeface="Calibri" pitchFamily="34" charset="-122"/>
                <a:cs typeface="Calibri" pitchFamily="34" charset="-120"/>
              </a:rPr>
              <a:t>Data centre operators seeking Eastern Ontario sites require dedicated advisory from brokers who understand power and connectivity requirements. Specialization commands premium fees.</a:t>
            </a:r>
            <a:endParaRPr lang="en-US" sz="900" dirty="0"/>
          </a:p>
        </p:txBody>
      </p:sp>
      <p:sp>
        <p:nvSpPr>
          <p:cNvPr id="10" name="Shape 8"/>
          <p:cNvSpPr/>
          <p:nvPr/>
        </p:nvSpPr>
        <p:spPr>
          <a:xfrm>
            <a:off x="3246120" y="1115568"/>
            <a:ext cx="2743200" cy="1463040"/>
          </a:xfrm>
          <a:prstGeom prst="rect">
            <a:avLst/>
          </a:prstGeom>
          <a:solidFill>
            <a:srgbClr val="D6E4F0"/>
          </a:solidFill>
          <a:ln w="9525">
            <a:solidFill>
              <a:srgbClr val="2E6DA4"/>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246120" y="1115568"/>
            <a:ext cx="73152" cy="1463040"/>
          </a:xfrm>
          <a:prstGeom prst="rect">
            <a:avLst/>
          </a:prstGeom>
          <a:solidFill>
            <a:srgbClr val="2E6DA4"/>
          </a:solidFill>
          <a:ln w="12700">
            <a:solidFill>
              <a:srgbClr val="2E6DA4"/>
            </a:solidFill>
            <a:prstDash val="solid"/>
          </a:ln>
        </p:spPr>
      </p:sp>
      <p:sp>
        <p:nvSpPr>
          <p:cNvPr id="12" name="Text 10"/>
          <p:cNvSpPr/>
          <p:nvPr/>
        </p:nvSpPr>
        <p:spPr>
          <a:xfrm>
            <a:off x="3429000" y="1225296"/>
            <a:ext cx="2487168"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Capital Markets</a:t>
            </a:r>
            <a:endParaRPr lang="en-US" sz="1100" dirty="0"/>
          </a:p>
        </p:txBody>
      </p:sp>
      <p:sp>
        <p:nvSpPr>
          <p:cNvPr id="13" name="Text 11"/>
          <p:cNvSpPr/>
          <p:nvPr/>
        </p:nvSpPr>
        <p:spPr>
          <a:xfrm>
            <a:off x="3429000" y="1536192"/>
            <a:ext cx="2487168" cy="932688"/>
          </a:xfrm>
          <a:prstGeom prst="rect">
            <a:avLst/>
          </a:prstGeom>
          <a:noFill/>
          <a:ln/>
        </p:spPr>
        <p:txBody>
          <a:bodyPr wrap="square" lIns="0" tIns="0" rIns="0" bIns="0" rtlCol="0" anchor="ctr"/>
          <a:lstStyle/>
          <a:p>
            <a:pPr indent="0" marL="0">
              <a:buNone/>
            </a:pPr>
            <a:r>
              <a:rPr lang="en-US" sz="900" dirty="0">
                <a:solidFill>
                  <a:srgbClr val="111111"/>
                </a:solidFill>
                <a:latin typeface="Calibri" pitchFamily="34" charset="0"/>
                <a:ea typeface="Calibri" pitchFamily="34" charset="-122"/>
                <a:cs typeface="Calibri" pitchFamily="34" charset="-120"/>
              </a:rPr>
              <a:t>Institutional investors — Canadian pensions, offshore SWFs, REITs — require trusted local advisors to underwrite Ontario data centre assets. CBRE is the natural lead.</a:t>
            </a:r>
            <a:endParaRPr lang="en-US" sz="900" dirty="0"/>
          </a:p>
        </p:txBody>
      </p:sp>
      <p:sp>
        <p:nvSpPr>
          <p:cNvPr id="14" name="Shape 12"/>
          <p:cNvSpPr/>
          <p:nvPr/>
        </p:nvSpPr>
        <p:spPr>
          <a:xfrm>
            <a:off x="6144768" y="1115568"/>
            <a:ext cx="2743200" cy="1463040"/>
          </a:xfrm>
          <a:prstGeom prst="rect">
            <a:avLst/>
          </a:prstGeom>
          <a:solidFill>
            <a:srgbClr val="F4F6F8"/>
          </a:solidFill>
          <a:ln w="9525">
            <a:solidFill>
              <a:srgbClr val="1B2A4A"/>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6144768" y="1115568"/>
            <a:ext cx="73152" cy="1463040"/>
          </a:xfrm>
          <a:prstGeom prst="rect">
            <a:avLst/>
          </a:prstGeom>
          <a:solidFill>
            <a:srgbClr val="1B2A4A"/>
          </a:solidFill>
          <a:ln w="12700">
            <a:solidFill>
              <a:srgbClr val="1B2A4A"/>
            </a:solidFill>
            <a:prstDash val="solid"/>
          </a:ln>
        </p:spPr>
      </p:sp>
      <p:sp>
        <p:nvSpPr>
          <p:cNvPr id="16" name="Text 14"/>
          <p:cNvSpPr/>
          <p:nvPr/>
        </p:nvSpPr>
        <p:spPr>
          <a:xfrm>
            <a:off x="6327648" y="1225296"/>
            <a:ext cx="2487168"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Land Advisory</a:t>
            </a:r>
            <a:endParaRPr lang="en-US" sz="1100" dirty="0"/>
          </a:p>
        </p:txBody>
      </p:sp>
      <p:sp>
        <p:nvSpPr>
          <p:cNvPr id="17" name="Text 15"/>
          <p:cNvSpPr/>
          <p:nvPr/>
        </p:nvSpPr>
        <p:spPr>
          <a:xfrm>
            <a:off x="6327648" y="1536192"/>
            <a:ext cx="2487168" cy="932688"/>
          </a:xfrm>
          <a:prstGeom prst="rect">
            <a:avLst/>
          </a:prstGeom>
          <a:noFill/>
          <a:ln/>
        </p:spPr>
        <p:txBody>
          <a:bodyPr wrap="square" lIns="0" tIns="0" rIns="0" bIns="0" rtlCol="0" anchor="ctr"/>
          <a:lstStyle/>
          <a:p>
            <a:pPr indent="0" marL="0">
              <a:buNone/>
            </a:pPr>
            <a:r>
              <a:rPr lang="en-US" sz="900" dirty="0">
                <a:solidFill>
                  <a:srgbClr val="111111"/>
                </a:solidFill>
                <a:latin typeface="Calibri" pitchFamily="34" charset="0"/>
                <a:ea typeface="Calibri" pitchFamily="34" charset="-122"/>
                <a:cs typeface="Calibri" pitchFamily="34" charset="-120"/>
              </a:rPr>
              <a:t>First-mover land identification along Kingston–Belleville corridor before pricing reflects the data centre premium. Site selection and power feasibility due diligence.</a:t>
            </a:r>
            <a:endParaRPr lang="en-US" sz="900" dirty="0"/>
          </a:p>
        </p:txBody>
      </p:sp>
      <p:sp>
        <p:nvSpPr>
          <p:cNvPr id="18" name="Shape 16"/>
          <p:cNvSpPr/>
          <p:nvPr/>
        </p:nvSpPr>
        <p:spPr>
          <a:xfrm>
            <a:off x="347472" y="2706624"/>
            <a:ext cx="2743200" cy="1463040"/>
          </a:xfrm>
          <a:prstGeom prst="rect">
            <a:avLst/>
          </a:prstGeom>
          <a:solidFill>
            <a:srgbClr val="FFF3CD"/>
          </a:solidFill>
          <a:ln w="9525">
            <a:solidFill>
              <a:srgbClr val="C9922A"/>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47472" y="2706624"/>
            <a:ext cx="73152" cy="1463040"/>
          </a:xfrm>
          <a:prstGeom prst="rect">
            <a:avLst/>
          </a:prstGeom>
          <a:solidFill>
            <a:srgbClr val="C9922A"/>
          </a:solidFill>
          <a:ln w="12700">
            <a:solidFill>
              <a:srgbClr val="C9922A"/>
            </a:solidFill>
            <a:prstDash val="solid"/>
          </a:ln>
        </p:spPr>
      </p:sp>
      <p:sp>
        <p:nvSpPr>
          <p:cNvPr id="20" name="Text 18"/>
          <p:cNvSpPr/>
          <p:nvPr/>
        </p:nvSpPr>
        <p:spPr>
          <a:xfrm>
            <a:off x="530352" y="2816352"/>
            <a:ext cx="2487168"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Valuation &amp; Research</a:t>
            </a:r>
            <a:endParaRPr lang="en-US" sz="1100" dirty="0"/>
          </a:p>
        </p:txBody>
      </p:sp>
      <p:sp>
        <p:nvSpPr>
          <p:cNvPr id="21" name="Text 19"/>
          <p:cNvSpPr/>
          <p:nvPr/>
        </p:nvSpPr>
        <p:spPr>
          <a:xfrm>
            <a:off x="530352" y="3127248"/>
            <a:ext cx="2487168" cy="932688"/>
          </a:xfrm>
          <a:prstGeom prst="rect">
            <a:avLst/>
          </a:prstGeom>
          <a:noFill/>
          <a:ln/>
        </p:spPr>
        <p:txBody>
          <a:bodyPr wrap="square" lIns="0" tIns="0" rIns="0" bIns="0" rtlCol="0" anchor="ctr"/>
          <a:lstStyle/>
          <a:p>
            <a:pPr indent="0" marL="0">
              <a:buNone/>
            </a:pPr>
            <a:r>
              <a:rPr lang="en-US" sz="900" dirty="0">
                <a:solidFill>
                  <a:srgbClr val="111111"/>
                </a:solidFill>
                <a:latin typeface="Calibri" pitchFamily="34" charset="0"/>
                <a:ea typeface="Calibri" pitchFamily="34" charset="-122"/>
                <a:cs typeface="Calibri" pitchFamily="34" charset="-120"/>
              </a:rPr>
              <a:t>Cap rate benchmarking, NOI analysis, and demand forecasting for data centre assets is a rapidly growing service line with limited specialist competition in Canada.</a:t>
            </a:r>
            <a:endParaRPr lang="en-US" sz="900" dirty="0"/>
          </a:p>
        </p:txBody>
      </p:sp>
      <p:sp>
        <p:nvSpPr>
          <p:cNvPr id="22" name="Shape 20"/>
          <p:cNvSpPr/>
          <p:nvPr/>
        </p:nvSpPr>
        <p:spPr>
          <a:xfrm>
            <a:off x="3246120" y="2706624"/>
            <a:ext cx="2743200" cy="1463040"/>
          </a:xfrm>
          <a:prstGeom prst="rect">
            <a:avLst/>
          </a:prstGeom>
          <a:solidFill>
            <a:srgbClr val="FAE0E0"/>
          </a:solidFill>
          <a:ln w="9525">
            <a:solidFill>
              <a:srgbClr val="B83232"/>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246120" y="2706624"/>
            <a:ext cx="73152" cy="1463040"/>
          </a:xfrm>
          <a:prstGeom prst="rect">
            <a:avLst/>
          </a:prstGeom>
          <a:solidFill>
            <a:srgbClr val="B83232"/>
          </a:solidFill>
          <a:ln w="12700">
            <a:solidFill>
              <a:srgbClr val="B83232"/>
            </a:solidFill>
            <a:prstDash val="solid"/>
          </a:ln>
        </p:spPr>
      </p:sp>
      <p:sp>
        <p:nvSpPr>
          <p:cNvPr id="24" name="Text 22"/>
          <p:cNvSpPr/>
          <p:nvPr/>
        </p:nvSpPr>
        <p:spPr>
          <a:xfrm>
            <a:off x="3429000" y="2816352"/>
            <a:ext cx="2487168"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Client Reputational Risk</a:t>
            </a:r>
            <a:endParaRPr lang="en-US" sz="1100" dirty="0"/>
          </a:p>
        </p:txBody>
      </p:sp>
      <p:sp>
        <p:nvSpPr>
          <p:cNvPr id="25" name="Text 23"/>
          <p:cNvSpPr/>
          <p:nvPr/>
        </p:nvSpPr>
        <p:spPr>
          <a:xfrm>
            <a:off x="3429000" y="3127248"/>
            <a:ext cx="2487168" cy="932688"/>
          </a:xfrm>
          <a:prstGeom prst="rect">
            <a:avLst/>
          </a:prstGeom>
          <a:noFill/>
          <a:ln/>
        </p:spPr>
        <p:txBody>
          <a:bodyPr wrap="square" lIns="0" tIns="0" rIns="0" bIns="0" rtlCol="0" anchor="ctr"/>
          <a:lstStyle/>
          <a:p>
            <a:pPr indent="0" marL="0">
              <a:buNone/>
            </a:pPr>
            <a:r>
              <a:rPr lang="en-US" sz="900" dirty="0">
                <a:solidFill>
                  <a:srgbClr val="111111"/>
                </a:solidFill>
                <a:latin typeface="Calibri" pitchFamily="34" charset="0"/>
                <a:ea typeface="Calibri" pitchFamily="34" charset="-122"/>
                <a:cs typeface="Calibri" pitchFamily="34" charset="-120"/>
              </a:rPr>
              <a:t>Advising on speculative or poorly-structured data centre deals that correct sharply damages CBRE's credibility. Underwriting discipline is a brand protection issue.</a:t>
            </a:r>
            <a:endParaRPr lang="en-US" sz="900" dirty="0"/>
          </a:p>
        </p:txBody>
      </p:sp>
      <p:sp>
        <p:nvSpPr>
          <p:cNvPr id="26" name="Shape 24"/>
          <p:cNvSpPr/>
          <p:nvPr/>
        </p:nvSpPr>
        <p:spPr>
          <a:xfrm>
            <a:off x="6144768" y="2706624"/>
            <a:ext cx="2743200" cy="1463040"/>
          </a:xfrm>
          <a:prstGeom prst="rect">
            <a:avLst/>
          </a:prstGeom>
          <a:solidFill>
            <a:srgbClr val="FFF3CD"/>
          </a:solidFill>
          <a:ln w="9525">
            <a:solidFill>
              <a:srgbClr val="C9922A"/>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6144768" y="2706624"/>
            <a:ext cx="73152" cy="1463040"/>
          </a:xfrm>
          <a:prstGeom prst="rect">
            <a:avLst/>
          </a:prstGeom>
          <a:solidFill>
            <a:srgbClr val="C9922A"/>
          </a:solidFill>
          <a:ln w="12700">
            <a:solidFill>
              <a:srgbClr val="C9922A"/>
            </a:solidFill>
            <a:prstDash val="solid"/>
          </a:ln>
        </p:spPr>
      </p:sp>
      <p:sp>
        <p:nvSpPr>
          <p:cNvPr id="28" name="Text 26"/>
          <p:cNvSpPr/>
          <p:nvPr/>
        </p:nvSpPr>
        <p:spPr>
          <a:xfrm>
            <a:off x="6327648" y="2816352"/>
            <a:ext cx="2487168"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Talent Competition</a:t>
            </a:r>
            <a:endParaRPr lang="en-US" sz="1100" dirty="0"/>
          </a:p>
        </p:txBody>
      </p:sp>
      <p:sp>
        <p:nvSpPr>
          <p:cNvPr id="29" name="Text 27"/>
          <p:cNvSpPr/>
          <p:nvPr/>
        </p:nvSpPr>
        <p:spPr>
          <a:xfrm>
            <a:off x="6327648" y="3127248"/>
            <a:ext cx="2487168" cy="932688"/>
          </a:xfrm>
          <a:prstGeom prst="rect">
            <a:avLst/>
          </a:prstGeom>
          <a:noFill/>
          <a:ln/>
        </p:spPr>
        <p:txBody>
          <a:bodyPr wrap="square" lIns="0" tIns="0" rIns="0" bIns="0" rtlCol="0" anchor="ctr"/>
          <a:lstStyle/>
          <a:p>
            <a:pPr indent="0" marL="0">
              <a:buNone/>
            </a:pPr>
            <a:r>
              <a:rPr lang="en-US" sz="900" dirty="0">
                <a:solidFill>
                  <a:srgbClr val="111111"/>
                </a:solidFill>
                <a:latin typeface="Calibri" pitchFamily="34" charset="0"/>
                <a:ea typeface="Calibri" pitchFamily="34" charset="-122"/>
                <a:cs typeface="Calibri" pitchFamily="34" charset="-120"/>
              </a:rPr>
              <a:t>Data centre specialists with power engineering and connectivity knowledge are scarce and aggressively recruited. CBRE must invest now or source externally.</a:t>
            </a:r>
            <a:endParaRPr lang="en-US" sz="900" dirty="0"/>
          </a:p>
        </p:txBody>
      </p:sp>
      <p:sp>
        <p:nvSpPr>
          <p:cNvPr id="30" name="Shape 28"/>
          <p:cNvSpPr/>
          <p:nvPr/>
        </p:nvSpPr>
        <p:spPr>
          <a:xfrm>
            <a:off x="0" y="4850892"/>
            <a:ext cx="9144000" cy="292608"/>
          </a:xfrm>
          <a:prstGeom prst="rect">
            <a:avLst/>
          </a:prstGeom>
          <a:solidFill>
            <a:srgbClr val="F4F6F8"/>
          </a:solidFill>
          <a:ln w="12700">
            <a:solidFill>
              <a:srgbClr val="E2E8EF"/>
            </a:solidFill>
            <a:prstDash val="solid"/>
          </a:ln>
        </p:spPr>
      </p:sp>
      <p:sp>
        <p:nvSpPr>
          <p:cNvPr id="31" name="Text 29"/>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32" name="Text 30"/>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Internal analysis — CBRE Research, March 2026</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05  Mitigations &amp; Strategic Recommendations</a:t>
            </a:r>
            <a:endParaRPr lang="en-US" sz="2200" dirty="0"/>
          </a:p>
        </p:txBody>
      </p:sp>
      <p:sp>
        <p:nvSpPr>
          <p:cNvPr id="4" name="Text 2"/>
          <p:cNvSpPr/>
          <p:nvPr/>
        </p:nvSpPr>
        <p:spPr>
          <a:xfrm>
            <a:off x="347472" y="713232"/>
            <a:ext cx="8595360" cy="256032"/>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Five underwriting disciplines and five strategic actions for CBRE to capture Eastern Ontario opportunity while managing risk.</a:t>
            </a:r>
            <a:endParaRPr lang="en-US" sz="1100" dirty="0"/>
          </a:p>
        </p:txBody>
      </p:sp>
      <p:sp>
        <p:nvSpPr>
          <p:cNvPr id="5" name="Shape 3"/>
          <p:cNvSpPr/>
          <p:nvPr/>
        </p:nvSpPr>
        <p:spPr>
          <a:xfrm>
            <a:off x="347472" y="1005840"/>
            <a:ext cx="8503920" cy="22860"/>
          </a:xfrm>
          <a:prstGeom prst="rect">
            <a:avLst/>
          </a:prstGeom>
          <a:solidFill>
            <a:srgbClr val="E2E8EF"/>
          </a:solidFill>
          <a:ln w="12700">
            <a:solidFill>
              <a:srgbClr val="E2E8EF"/>
            </a:solidFill>
            <a:prstDash val="solid"/>
          </a:ln>
        </p:spPr>
      </p:sp>
      <p:sp>
        <p:nvSpPr>
          <p:cNvPr id="6" name="Text 4"/>
          <p:cNvSpPr/>
          <p:nvPr/>
        </p:nvSpPr>
        <p:spPr>
          <a:xfrm>
            <a:off x="347472" y="1115568"/>
            <a:ext cx="4114800" cy="274320"/>
          </a:xfrm>
          <a:prstGeom prst="rect">
            <a:avLst/>
          </a:prstGeom>
          <a:noFill/>
          <a:ln/>
        </p:spPr>
        <p:txBody>
          <a:bodyPr wrap="square" lIns="0" tIns="0" rIns="0" bIns="0" rtlCol="0" anchor="ctr"/>
          <a:lstStyle/>
          <a:p>
            <a:pPr indent="0" marL="0">
              <a:buNone/>
            </a:pPr>
            <a:r>
              <a:rPr lang="en-US" sz="1050" b="1" spc="200" kern="0" dirty="0">
                <a:solidFill>
                  <a:srgbClr val="1B2A4A"/>
                </a:solidFill>
                <a:latin typeface="Calibri" pitchFamily="34" charset="0"/>
                <a:ea typeface="Calibri" pitchFamily="34" charset="-122"/>
                <a:cs typeface="Calibri" pitchFamily="34" charset="-120"/>
              </a:rPr>
              <a:t>UNDERWRITING DISCIPLINES</a:t>
            </a:r>
            <a:endParaRPr lang="en-US" sz="1050" dirty="0"/>
          </a:p>
        </p:txBody>
      </p:sp>
      <p:sp>
        <p:nvSpPr>
          <p:cNvPr id="7" name="Shape 5"/>
          <p:cNvSpPr/>
          <p:nvPr/>
        </p:nvSpPr>
        <p:spPr>
          <a:xfrm>
            <a:off x="347472" y="1444752"/>
            <a:ext cx="411480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47472" y="1444752"/>
            <a:ext cx="384048" cy="576072"/>
          </a:xfrm>
          <a:prstGeom prst="rect">
            <a:avLst/>
          </a:prstGeom>
          <a:solidFill>
            <a:srgbClr val="1B2A4A"/>
          </a:solidFill>
          <a:ln w="12700">
            <a:solidFill>
              <a:srgbClr val="1B2A4A"/>
            </a:solidFill>
            <a:prstDash val="solid"/>
          </a:ln>
        </p:spPr>
      </p:sp>
      <p:sp>
        <p:nvSpPr>
          <p:cNvPr id="9" name="Text 7"/>
          <p:cNvSpPr/>
          <p:nvPr/>
        </p:nvSpPr>
        <p:spPr>
          <a:xfrm>
            <a:off x="347472" y="1444752"/>
            <a:ext cx="384048" cy="5760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804672" y="1490472"/>
            <a:ext cx="3584448"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Tenant Quality First</a:t>
            </a:r>
            <a:endParaRPr lang="en-US" sz="950" dirty="0"/>
          </a:p>
        </p:txBody>
      </p:sp>
      <p:sp>
        <p:nvSpPr>
          <p:cNvPr id="11" name="Text 9"/>
          <p:cNvSpPr/>
          <p:nvPr/>
        </p:nvSpPr>
        <p:spPr>
          <a:xfrm>
            <a:off x="804672" y="1691640"/>
            <a:ext cx="3584448"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Only hyperscaler or investment-grade tenants with 15+ yr NNN leases. No venture-backed AI startup exposure.</a:t>
            </a:r>
            <a:endParaRPr lang="en-US" sz="800" dirty="0"/>
          </a:p>
        </p:txBody>
      </p:sp>
      <p:sp>
        <p:nvSpPr>
          <p:cNvPr id="12" name="Shape 10"/>
          <p:cNvSpPr/>
          <p:nvPr/>
        </p:nvSpPr>
        <p:spPr>
          <a:xfrm>
            <a:off x="347472" y="2084832"/>
            <a:ext cx="411480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47472" y="2084832"/>
            <a:ext cx="384048" cy="576072"/>
          </a:xfrm>
          <a:prstGeom prst="rect">
            <a:avLst/>
          </a:prstGeom>
          <a:solidFill>
            <a:srgbClr val="1B2A4A"/>
          </a:solidFill>
          <a:ln w="12700">
            <a:solidFill>
              <a:srgbClr val="1B2A4A"/>
            </a:solidFill>
            <a:prstDash val="solid"/>
          </a:ln>
        </p:spPr>
      </p:sp>
      <p:sp>
        <p:nvSpPr>
          <p:cNvPr id="14" name="Text 12"/>
          <p:cNvSpPr/>
          <p:nvPr/>
        </p:nvSpPr>
        <p:spPr>
          <a:xfrm>
            <a:off x="347472" y="2084832"/>
            <a:ext cx="384048" cy="5760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804672" y="2130552"/>
            <a:ext cx="3584448"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Power Before Pencils</a:t>
            </a:r>
            <a:endParaRPr lang="en-US" sz="950" dirty="0"/>
          </a:p>
        </p:txBody>
      </p:sp>
      <p:sp>
        <p:nvSpPr>
          <p:cNvPr id="16" name="Text 14"/>
          <p:cNvSpPr/>
          <p:nvPr/>
        </p:nvSpPr>
        <p:spPr>
          <a:xfrm>
            <a:off x="804672" y="2331720"/>
            <a:ext cx="3584448"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Confirm grid connection feasibility (Hydro One / OPG) before underwriting any development timeline. 36–48 month buffer.</a:t>
            </a:r>
            <a:endParaRPr lang="en-US" sz="800" dirty="0"/>
          </a:p>
        </p:txBody>
      </p:sp>
      <p:sp>
        <p:nvSpPr>
          <p:cNvPr id="17" name="Shape 15"/>
          <p:cNvSpPr/>
          <p:nvPr/>
        </p:nvSpPr>
        <p:spPr>
          <a:xfrm>
            <a:off x="347472" y="2724912"/>
            <a:ext cx="411480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47472" y="2724912"/>
            <a:ext cx="384048" cy="576072"/>
          </a:xfrm>
          <a:prstGeom prst="rect">
            <a:avLst/>
          </a:prstGeom>
          <a:solidFill>
            <a:srgbClr val="1B2A4A"/>
          </a:solidFill>
          <a:ln w="12700">
            <a:solidFill>
              <a:srgbClr val="1B2A4A"/>
            </a:solidFill>
            <a:prstDash val="solid"/>
          </a:ln>
        </p:spPr>
      </p:sp>
      <p:sp>
        <p:nvSpPr>
          <p:cNvPr id="19" name="Text 17"/>
          <p:cNvSpPr/>
          <p:nvPr/>
        </p:nvSpPr>
        <p:spPr>
          <a:xfrm>
            <a:off x="347472" y="2724912"/>
            <a:ext cx="384048" cy="5760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804672" y="2770632"/>
            <a:ext cx="3584448"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Cost Assumptions</a:t>
            </a:r>
            <a:endParaRPr lang="en-US" sz="950" dirty="0"/>
          </a:p>
        </p:txBody>
      </p:sp>
      <p:sp>
        <p:nvSpPr>
          <p:cNvPr id="21" name="Text 19"/>
          <p:cNvSpPr/>
          <p:nvPr/>
        </p:nvSpPr>
        <p:spPr>
          <a:xfrm>
            <a:off x="804672" y="2971800"/>
            <a:ext cx="3584448"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Use current GPU density (50–100 kW/rack) for all development cost modelling. 2022 benchmarks are structurally wrong.</a:t>
            </a:r>
            <a:endParaRPr lang="en-US" sz="800" dirty="0"/>
          </a:p>
        </p:txBody>
      </p:sp>
      <p:sp>
        <p:nvSpPr>
          <p:cNvPr id="22" name="Shape 20"/>
          <p:cNvSpPr/>
          <p:nvPr/>
        </p:nvSpPr>
        <p:spPr>
          <a:xfrm>
            <a:off x="347472" y="3364992"/>
            <a:ext cx="411480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47472" y="3364992"/>
            <a:ext cx="384048" cy="576072"/>
          </a:xfrm>
          <a:prstGeom prst="rect">
            <a:avLst/>
          </a:prstGeom>
          <a:solidFill>
            <a:srgbClr val="1B2A4A"/>
          </a:solidFill>
          <a:ln w="12700">
            <a:solidFill>
              <a:srgbClr val="1B2A4A"/>
            </a:solidFill>
            <a:prstDash val="solid"/>
          </a:ln>
        </p:spPr>
      </p:sp>
      <p:sp>
        <p:nvSpPr>
          <p:cNvPr id="24" name="Text 22"/>
          <p:cNvSpPr/>
          <p:nvPr/>
        </p:nvSpPr>
        <p:spPr>
          <a:xfrm>
            <a:off x="347472" y="3364992"/>
            <a:ext cx="384048" cy="5760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804672" y="3410712"/>
            <a:ext cx="3584448"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Lease ≥ Depreciation</a:t>
            </a:r>
            <a:endParaRPr lang="en-US" sz="950" dirty="0"/>
          </a:p>
        </p:txBody>
      </p:sp>
      <p:sp>
        <p:nvSpPr>
          <p:cNvPr id="26" name="Text 24"/>
          <p:cNvSpPr/>
          <p:nvPr/>
        </p:nvSpPr>
        <p:spPr>
          <a:xfrm>
            <a:off x="804672" y="3611880"/>
            <a:ext cx="3584448"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Lease term must exceed hardware lifecycle (5–7 yrs) by a meaningful margin. Short leases expose investors to re-tenanting during tech transitions.</a:t>
            </a:r>
            <a:endParaRPr lang="en-US" sz="800" dirty="0"/>
          </a:p>
        </p:txBody>
      </p:sp>
      <p:sp>
        <p:nvSpPr>
          <p:cNvPr id="27" name="Shape 25"/>
          <p:cNvSpPr/>
          <p:nvPr/>
        </p:nvSpPr>
        <p:spPr>
          <a:xfrm>
            <a:off x="347472" y="4005072"/>
            <a:ext cx="411480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347472" y="4005072"/>
            <a:ext cx="384048" cy="576072"/>
          </a:xfrm>
          <a:prstGeom prst="rect">
            <a:avLst/>
          </a:prstGeom>
          <a:solidFill>
            <a:srgbClr val="1B2A4A"/>
          </a:solidFill>
          <a:ln w="12700">
            <a:solidFill>
              <a:srgbClr val="1B2A4A"/>
            </a:solidFill>
            <a:prstDash val="solid"/>
          </a:ln>
        </p:spPr>
      </p:sp>
      <p:sp>
        <p:nvSpPr>
          <p:cNvPr id="29" name="Text 27"/>
          <p:cNvSpPr/>
          <p:nvPr/>
        </p:nvSpPr>
        <p:spPr>
          <a:xfrm>
            <a:off x="347472" y="4005072"/>
            <a:ext cx="384048" cy="5760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0" name="Text 28"/>
          <p:cNvSpPr/>
          <p:nvPr/>
        </p:nvSpPr>
        <p:spPr>
          <a:xfrm>
            <a:off x="804672" y="4050792"/>
            <a:ext cx="3584448"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Stress Test Cap Rates</a:t>
            </a:r>
            <a:endParaRPr lang="en-US" sz="950" dirty="0"/>
          </a:p>
        </p:txBody>
      </p:sp>
      <p:sp>
        <p:nvSpPr>
          <p:cNvPr id="31" name="Text 29"/>
          <p:cNvSpPr/>
          <p:nvPr/>
        </p:nvSpPr>
        <p:spPr>
          <a:xfrm>
            <a:off x="804672" y="4251960"/>
            <a:ext cx="3584448"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Model 50–100 bps cap rate expansion on any acquisition. Do not assume 2021–24 compression is a permanent floor.</a:t>
            </a:r>
            <a:endParaRPr lang="en-US" sz="800" dirty="0"/>
          </a:p>
        </p:txBody>
      </p:sp>
      <p:sp>
        <p:nvSpPr>
          <p:cNvPr id="32" name="Text 30"/>
          <p:cNvSpPr/>
          <p:nvPr/>
        </p:nvSpPr>
        <p:spPr>
          <a:xfrm>
            <a:off x="4681728" y="1115568"/>
            <a:ext cx="4251960" cy="274320"/>
          </a:xfrm>
          <a:prstGeom prst="rect">
            <a:avLst/>
          </a:prstGeom>
          <a:noFill/>
          <a:ln/>
        </p:spPr>
        <p:txBody>
          <a:bodyPr wrap="square" lIns="0" tIns="0" rIns="0" bIns="0" rtlCol="0" anchor="ctr"/>
          <a:lstStyle/>
          <a:p>
            <a:pPr indent="0" marL="0">
              <a:buNone/>
            </a:pPr>
            <a:r>
              <a:rPr lang="en-US" sz="1050" b="1" spc="200" kern="0" dirty="0">
                <a:solidFill>
                  <a:srgbClr val="0D7A5F"/>
                </a:solidFill>
                <a:latin typeface="Calibri" pitchFamily="34" charset="0"/>
                <a:ea typeface="Calibri" pitchFamily="34" charset="-122"/>
                <a:cs typeface="Calibri" pitchFamily="34" charset="-120"/>
              </a:rPr>
              <a:t>CBRE STRATEGIC ACTIONS</a:t>
            </a:r>
            <a:endParaRPr lang="en-US" sz="1050" dirty="0"/>
          </a:p>
        </p:txBody>
      </p:sp>
      <p:sp>
        <p:nvSpPr>
          <p:cNvPr id="33" name="Shape 31"/>
          <p:cNvSpPr/>
          <p:nvPr/>
        </p:nvSpPr>
        <p:spPr>
          <a:xfrm>
            <a:off x="4681728" y="1444752"/>
            <a:ext cx="425196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4681728" y="1444752"/>
            <a:ext cx="64008" cy="576072"/>
          </a:xfrm>
          <a:prstGeom prst="rect">
            <a:avLst/>
          </a:prstGeom>
          <a:solidFill>
            <a:srgbClr val="0D7A5F"/>
          </a:solidFill>
          <a:ln w="12700">
            <a:solidFill>
              <a:srgbClr val="0D7A5F"/>
            </a:solidFill>
            <a:prstDash val="solid"/>
          </a:ln>
        </p:spPr>
      </p:sp>
      <p:sp>
        <p:nvSpPr>
          <p:cNvPr id="35" name="Shape 33"/>
          <p:cNvSpPr/>
          <p:nvPr/>
        </p:nvSpPr>
        <p:spPr>
          <a:xfrm>
            <a:off x="4773168" y="1554480"/>
            <a:ext cx="329184" cy="329184"/>
          </a:xfrm>
          <a:prstGeom prst="ellipse">
            <a:avLst/>
          </a:prstGeom>
          <a:solidFill>
            <a:srgbClr val="0D7A5F"/>
          </a:solidFill>
          <a:ln w="12700">
            <a:solidFill>
              <a:srgbClr val="0D7A5F"/>
            </a:solidFill>
            <a:prstDash val="solid"/>
          </a:ln>
        </p:spPr>
      </p:sp>
      <p:pic>
        <p:nvPicPr>
          <p:cNvPr id="36" name="Image 0" descr="preencoded.png">    </p:cNvPr>
          <p:cNvPicPr>
            <a:picLocks noChangeAspect="1"/>
          </p:cNvPicPr>
          <p:nvPr/>
        </p:nvPicPr>
        <p:blipFill>
          <a:blip r:embed="rId1"/>
          <a:stretch>
            <a:fillRect/>
          </a:stretch>
        </p:blipFill>
        <p:spPr>
          <a:xfrm>
            <a:off x="4837176" y="1618488"/>
            <a:ext cx="201168" cy="201168"/>
          </a:xfrm>
          <a:prstGeom prst="rect">
            <a:avLst/>
          </a:prstGeom>
        </p:spPr>
      </p:pic>
      <p:sp>
        <p:nvSpPr>
          <p:cNvPr id="37" name="Text 34"/>
          <p:cNvSpPr/>
          <p:nvPr/>
        </p:nvSpPr>
        <p:spPr>
          <a:xfrm>
            <a:off x="5193792" y="1490472"/>
            <a:ext cx="365760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Map the Corridor Now</a:t>
            </a:r>
            <a:endParaRPr lang="en-US" sz="950" dirty="0"/>
          </a:p>
        </p:txBody>
      </p:sp>
      <p:sp>
        <p:nvSpPr>
          <p:cNvPr id="38" name="Text 35"/>
          <p:cNvSpPr/>
          <p:nvPr/>
        </p:nvSpPr>
        <p:spPr>
          <a:xfrm>
            <a:off x="5193792" y="1691640"/>
            <a:ext cx="3657600"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Commission off-market site identification along Kingston–Belleville 401 corridor before pricing reflects the premium. Window is 12–18 months.</a:t>
            </a:r>
            <a:endParaRPr lang="en-US" sz="800" dirty="0"/>
          </a:p>
        </p:txBody>
      </p:sp>
      <p:sp>
        <p:nvSpPr>
          <p:cNvPr id="39" name="Shape 36"/>
          <p:cNvSpPr/>
          <p:nvPr/>
        </p:nvSpPr>
        <p:spPr>
          <a:xfrm>
            <a:off x="4681728" y="2084832"/>
            <a:ext cx="425196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40" name="Shape 37"/>
          <p:cNvSpPr/>
          <p:nvPr/>
        </p:nvSpPr>
        <p:spPr>
          <a:xfrm>
            <a:off x="4681728" y="2084832"/>
            <a:ext cx="64008" cy="576072"/>
          </a:xfrm>
          <a:prstGeom prst="rect">
            <a:avLst/>
          </a:prstGeom>
          <a:solidFill>
            <a:srgbClr val="2E6DA4"/>
          </a:solidFill>
          <a:ln w="12700">
            <a:solidFill>
              <a:srgbClr val="2E6DA4"/>
            </a:solidFill>
            <a:prstDash val="solid"/>
          </a:ln>
        </p:spPr>
      </p:sp>
      <p:sp>
        <p:nvSpPr>
          <p:cNvPr id="41" name="Shape 38"/>
          <p:cNvSpPr/>
          <p:nvPr/>
        </p:nvSpPr>
        <p:spPr>
          <a:xfrm>
            <a:off x="4773168" y="2194560"/>
            <a:ext cx="329184" cy="329184"/>
          </a:xfrm>
          <a:prstGeom prst="ellipse">
            <a:avLst/>
          </a:prstGeom>
          <a:solidFill>
            <a:srgbClr val="2E6DA4"/>
          </a:solidFill>
          <a:ln w="12700">
            <a:solidFill>
              <a:srgbClr val="2E6DA4"/>
            </a:solidFill>
            <a:prstDash val="solid"/>
          </a:ln>
        </p:spPr>
      </p:sp>
      <p:pic>
        <p:nvPicPr>
          <p:cNvPr id="42" name="Image 1" descr="preencoded.png">    </p:cNvPr>
          <p:cNvPicPr>
            <a:picLocks noChangeAspect="1"/>
          </p:cNvPicPr>
          <p:nvPr/>
        </p:nvPicPr>
        <p:blipFill>
          <a:blip r:embed="rId2"/>
          <a:stretch>
            <a:fillRect/>
          </a:stretch>
        </p:blipFill>
        <p:spPr>
          <a:xfrm>
            <a:off x="4837176" y="2258568"/>
            <a:ext cx="201168" cy="201168"/>
          </a:xfrm>
          <a:prstGeom prst="rect">
            <a:avLst/>
          </a:prstGeom>
        </p:spPr>
      </p:pic>
      <p:sp>
        <p:nvSpPr>
          <p:cNvPr id="43" name="Text 39"/>
          <p:cNvSpPr/>
          <p:nvPr/>
        </p:nvSpPr>
        <p:spPr>
          <a:xfrm>
            <a:off x="5193792" y="2130552"/>
            <a:ext cx="365760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Build Power Expertise</a:t>
            </a:r>
            <a:endParaRPr lang="en-US" sz="950" dirty="0"/>
          </a:p>
        </p:txBody>
      </p:sp>
      <p:sp>
        <p:nvSpPr>
          <p:cNvPr id="44" name="Text 40"/>
          <p:cNvSpPr/>
          <p:nvPr/>
        </p:nvSpPr>
        <p:spPr>
          <a:xfrm>
            <a:off x="5193792" y="2331720"/>
            <a:ext cx="3657600"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Recruit or train data centre specialists with Hydro One/OPG grid knowledge. Partnership with power engineering firm for due diligence.</a:t>
            </a:r>
            <a:endParaRPr lang="en-US" sz="800" dirty="0"/>
          </a:p>
        </p:txBody>
      </p:sp>
      <p:sp>
        <p:nvSpPr>
          <p:cNvPr id="45" name="Shape 41"/>
          <p:cNvSpPr/>
          <p:nvPr/>
        </p:nvSpPr>
        <p:spPr>
          <a:xfrm>
            <a:off x="4681728" y="2724912"/>
            <a:ext cx="425196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46" name="Shape 42"/>
          <p:cNvSpPr/>
          <p:nvPr/>
        </p:nvSpPr>
        <p:spPr>
          <a:xfrm>
            <a:off x="4681728" y="2724912"/>
            <a:ext cx="64008" cy="576072"/>
          </a:xfrm>
          <a:prstGeom prst="rect">
            <a:avLst/>
          </a:prstGeom>
          <a:solidFill>
            <a:srgbClr val="1B2A4A"/>
          </a:solidFill>
          <a:ln w="12700">
            <a:solidFill>
              <a:srgbClr val="1B2A4A"/>
            </a:solidFill>
            <a:prstDash val="solid"/>
          </a:ln>
        </p:spPr>
      </p:sp>
      <p:sp>
        <p:nvSpPr>
          <p:cNvPr id="47" name="Shape 43"/>
          <p:cNvSpPr/>
          <p:nvPr/>
        </p:nvSpPr>
        <p:spPr>
          <a:xfrm>
            <a:off x="4773168" y="2834640"/>
            <a:ext cx="329184" cy="329184"/>
          </a:xfrm>
          <a:prstGeom prst="ellipse">
            <a:avLst/>
          </a:prstGeom>
          <a:solidFill>
            <a:srgbClr val="1B2A4A"/>
          </a:solidFill>
          <a:ln w="12700">
            <a:solidFill>
              <a:srgbClr val="1B2A4A"/>
            </a:solidFill>
            <a:prstDash val="solid"/>
          </a:ln>
        </p:spPr>
      </p:sp>
      <p:pic>
        <p:nvPicPr>
          <p:cNvPr id="48" name="Image 2" descr="preencoded.png">    </p:cNvPr>
          <p:cNvPicPr>
            <a:picLocks noChangeAspect="1"/>
          </p:cNvPicPr>
          <p:nvPr/>
        </p:nvPicPr>
        <p:blipFill>
          <a:blip r:embed="rId3"/>
          <a:stretch>
            <a:fillRect/>
          </a:stretch>
        </p:blipFill>
        <p:spPr>
          <a:xfrm>
            <a:off x="4837176" y="2898648"/>
            <a:ext cx="201168" cy="201168"/>
          </a:xfrm>
          <a:prstGeom prst="rect">
            <a:avLst/>
          </a:prstGeom>
        </p:spPr>
      </p:pic>
      <p:sp>
        <p:nvSpPr>
          <p:cNvPr id="49" name="Text 44"/>
          <p:cNvSpPr/>
          <p:nvPr/>
        </p:nvSpPr>
        <p:spPr>
          <a:xfrm>
            <a:off x="5193792" y="2770632"/>
            <a:ext cx="365760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Publish Quarterly Market Data</a:t>
            </a:r>
            <a:endParaRPr lang="en-US" sz="950" dirty="0"/>
          </a:p>
        </p:txBody>
      </p:sp>
      <p:sp>
        <p:nvSpPr>
          <p:cNvPr id="50" name="Text 45"/>
          <p:cNvSpPr/>
          <p:nvPr/>
        </p:nvSpPr>
        <p:spPr>
          <a:xfrm>
            <a:off x="5193792" y="2971800"/>
            <a:ext cx="3657600"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Establish CBRE as the definitive Eastern Ontario data centre research source. Market data leadership drives mandate wins.</a:t>
            </a:r>
            <a:endParaRPr lang="en-US" sz="800" dirty="0"/>
          </a:p>
        </p:txBody>
      </p:sp>
      <p:sp>
        <p:nvSpPr>
          <p:cNvPr id="51" name="Shape 46"/>
          <p:cNvSpPr/>
          <p:nvPr/>
        </p:nvSpPr>
        <p:spPr>
          <a:xfrm>
            <a:off x="4681728" y="3364992"/>
            <a:ext cx="425196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52" name="Shape 47"/>
          <p:cNvSpPr/>
          <p:nvPr/>
        </p:nvSpPr>
        <p:spPr>
          <a:xfrm>
            <a:off x="4681728" y="3364992"/>
            <a:ext cx="64008" cy="576072"/>
          </a:xfrm>
          <a:prstGeom prst="rect">
            <a:avLst/>
          </a:prstGeom>
          <a:solidFill>
            <a:srgbClr val="C9922A"/>
          </a:solidFill>
          <a:ln w="12700">
            <a:solidFill>
              <a:srgbClr val="C9922A"/>
            </a:solidFill>
            <a:prstDash val="solid"/>
          </a:ln>
        </p:spPr>
      </p:sp>
      <p:sp>
        <p:nvSpPr>
          <p:cNvPr id="53" name="Shape 48"/>
          <p:cNvSpPr/>
          <p:nvPr/>
        </p:nvSpPr>
        <p:spPr>
          <a:xfrm>
            <a:off x="4773168" y="3474720"/>
            <a:ext cx="329184" cy="329184"/>
          </a:xfrm>
          <a:prstGeom prst="ellipse">
            <a:avLst/>
          </a:prstGeom>
          <a:solidFill>
            <a:srgbClr val="C9922A"/>
          </a:solidFill>
          <a:ln w="12700">
            <a:solidFill>
              <a:srgbClr val="C9922A"/>
            </a:solidFill>
            <a:prstDash val="solid"/>
          </a:ln>
        </p:spPr>
      </p:sp>
      <p:pic>
        <p:nvPicPr>
          <p:cNvPr id="54" name="Image 3" descr="preencoded.png">    </p:cNvPr>
          <p:cNvPicPr>
            <a:picLocks noChangeAspect="1"/>
          </p:cNvPicPr>
          <p:nvPr/>
        </p:nvPicPr>
        <p:blipFill>
          <a:blip r:embed="rId4"/>
          <a:stretch>
            <a:fillRect/>
          </a:stretch>
        </p:blipFill>
        <p:spPr>
          <a:xfrm>
            <a:off x="4837176" y="3538728"/>
            <a:ext cx="201168" cy="201168"/>
          </a:xfrm>
          <a:prstGeom prst="rect">
            <a:avLst/>
          </a:prstGeom>
        </p:spPr>
      </p:pic>
      <p:sp>
        <p:nvSpPr>
          <p:cNvPr id="55" name="Text 49"/>
          <p:cNvSpPr/>
          <p:nvPr/>
        </p:nvSpPr>
        <p:spPr>
          <a:xfrm>
            <a:off x="5193792" y="3410712"/>
            <a:ext cx="365760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Pension Fund Positioning</a:t>
            </a:r>
            <a:endParaRPr lang="en-US" sz="950" dirty="0"/>
          </a:p>
        </p:txBody>
      </p:sp>
      <p:sp>
        <p:nvSpPr>
          <p:cNvPr id="56" name="Text 50"/>
          <p:cNvSpPr/>
          <p:nvPr/>
        </p:nvSpPr>
        <p:spPr>
          <a:xfrm>
            <a:off x="5193792" y="3611880"/>
            <a:ext cx="3657600"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CPP, OMERS, Teachers' are natural institutional buyers. Develop proactive pitch for Ontario data centre advisory — they already have the capital.</a:t>
            </a:r>
            <a:endParaRPr lang="en-US" sz="800" dirty="0"/>
          </a:p>
        </p:txBody>
      </p:sp>
      <p:sp>
        <p:nvSpPr>
          <p:cNvPr id="57" name="Shape 51"/>
          <p:cNvSpPr/>
          <p:nvPr/>
        </p:nvSpPr>
        <p:spPr>
          <a:xfrm>
            <a:off x="4681728" y="4005072"/>
            <a:ext cx="4251960" cy="576072"/>
          </a:xfrm>
          <a:prstGeom prst="rect">
            <a:avLst/>
          </a:prstGeom>
          <a:solidFill>
            <a:srgbClr val="F4F6F8"/>
          </a:solidFill>
          <a:ln w="12700">
            <a:solidFill>
              <a:srgbClr val="E2E8EF"/>
            </a:solidFill>
            <a:prstDash val="solid"/>
          </a:ln>
          <a:effectLst>
            <a:outerShdw sx="100000" sy="100000" kx="0" ky="0" algn="bl" rotWithShape="0" blurRad="101600" dist="38100" dir="8100000">
              <a:srgbClr val="000000">
                <a:alpha val="12000"/>
              </a:srgbClr>
            </a:outerShdw>
          </a:effectLst>
        </p:spPr>
      </p:sp>
      <p:sp>
        <p:nvSpPr>
          <p:cNvPr id="58" name="Shape 52"/>
          <p:cNvSpPr/>
          <p:nvPr/>
        </p:nvSpPr>
        <p:spPr>
          <a:xfrm>
            <a:off x="4681728" y="4005072"/>
            <a:ext cx="64008" cy="576072"/>
          </a:xfrm>
          <a:prstGeom prst="rect">
            <a:avLst/>
          </a:prstGeom>
          <a:solidFill>
            <a:srgbClr val="0D7A5F"/>
          </a:solidFill>
          <a:ln w="12700">
            <a:solidFill>
              <a:srgbClr val="0D7A5F"/>
            </a:solidFill>
            <a:prstDash val="solid"/>
          </a:ln>
        </p:spPr>
      </p:sp>
      <p:sp>
        <p:nvSpPr>
          <p:cNvPr id="59" name="Shape 53"/>
          <p:cNvSpPr/>
          <p:nvPr/>
        </p:nvSpPr>
        <p:spPr>
          <a:xfrm>
            <a:off x="4773168" y="4114800"/>
            <a:ext cx="329184" cy="329184"/>
          </a:xfrm>
          <a:prstGeom prst="ellipse">
            <a:avLst/>
          </a:prstGeom>
          <a:solidFill>
            <a:srgbClr val="0D7A5F"/>
          </a:solidFill>
          <a:ln w="12700">
            <a:solidFill>
              <a:srgbClr val="0D7A5F"/>
            </a:solidFill>
            <a:prstDash val="solid"/>
          </a:ln>
        </p:spPr>
      </p:sp>
      <p:pic>
        <p:nvPicPr>
          <p:cNvPr id="60" name="Image 4" descr="preencoded.png">    </p:cNvPr>
          <p:cNvPicPr>
            <a:picLocks noChangeAspect="1"/>
          </p:cNvPicPr>
          <p:nvPr/>
        </p:nvPicPr>
        <p:blipFill>
          <a:blip r:embed="rId5"/>
          <a:stretch>
            <a:fillRect/>
          </a:stretch>
        </p:blipFill>
        <p:spPr>
          <a:xfrm>
            <a:off x="4837176" y="4178808"/>
            <a:ext cx="201168" cy="201168"/>
          </a:xfrm>
          <a:prstGeom prst="rect">
            <a:avLst/>
          </a:prstGeom>
        </p:spPr>
      </p:pic>
      <p:sp>
        <p:nvSpPr>
          <p:cNvPr id="61" name="Text 54"/>
          <p:cNvSpPr/>
          <p:nvPr/>
        </p:nvSpPr>
        <p:spPr>
          <a:xfrm>
            <a:off x="5193792" y="4050792"/>
            <a:ext cx="3657600" cy="201168"/>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Be the Disciplined Advisor</a:t>
            </a:r>
            <a:endParaRPr lang="en-US" sz="950" dirty="0"/>
          </a:p>
        </p:txBody>
      </p:sp>
      <p:sp>
        <p:nvSpPr>
          <p:cNvPr id="62" name="Text 55"/>
          <p:cNvSpPr/>
          <p:nvPr/>
        </p:nvSpPr>
        <p:spPr>
          <a:xfrm>
            <a:off x="5193792" y="4251960"/>
            <a:ext cx="3657600" cy="301752"/>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Decline to advise on speculative deals without institutional anchor tenants. Brand protection in a frothy market is a long-term competitive advantage.</a:t>
            </a:r>
            <a:endParaRPr lang="en-US" sz="800" dirty="0"/>
          </a:p>
        </p:txBody>
      </p:sp>
      <p:sp>
        <p:nvSpPr>
          <p:cNvPr id="63" name="Shape 56"/>
          <p:cNvSpPr/>
          <p:nvPr/>
        </p:nvSpPr>
        <p:spPr>
          <a:xfrm>
            <a:off x="0" y="4850892"/>
            <a:ext cx="9144000" cy="292608"/>
          </a:xfrm>
          <a:prstGeom prst="rect">
            <a:avLst/>
          </a:prstGeom>
          <a:solidFill>
            <a:srgbClr val="F4F6F8"/>
          </a:solidFill>
          <a:ln w="12700">
            <a:solidFill>
              <a:srgbClr val="E2E8EF"/>
            </a:solidFill>
            <a:prstDash val="solid"/>
          </a:ln>
        </p:spPr>
      </p:sp>
      <p:sp>
        <p:nvSpPr>
          <p:cNvPr id="64" name="Text 57"/>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65" name="Text 58"/>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Internal analysis — CBRE Research, March 2026</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5029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05  Scenario Analysis: Eastern Ontario Implications</a:t>
            </a:r>
            <a:endParaRPr lang="en-US" sz="2200" dirty="0"/>
          </a:p>
        </p:txBody>
      </p:sp>
      <p:sp>
        <p:nvSpPr>
          <p:cNvPr id="4" name="Text 2"/>
          <p:cNvSpPr/>
          <p:nvPr/>
        </p:nvSpPr>
        <p:spPr>
          <a:xfrm>
            <a:off x="347472" y="713232"/>
            <a:ext cx="8595360" cy="256032"/>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How each macro scenario maps to Eastern Ontario data centre outcomes and CBRE advisory positioning.</a:t>
            </a:r>
            <a:endParaRPr lang="en-US" sz="1100" dirty="0"/>
          </a:p>
        </p:txBody>
      </p:sp>
      <p:sp>
        <p:nvSpPr>
          <p:cNvPr id="5" name="Shape 3"/>
          <p:cNvSpPr/>
          <p:nvPr/>
        </p:nvSpPr>
        <p:spPr>
          <a:xfrm>
            <a:off x="347472" y="1005840"/>
            <a:ext cx="8503920" cy="22860"/>
          </a:xfrm>
          <a:prstGeom prst="rect">
            <a:avLst/>
          </a:prstGeom>
          <a:solidFill>
            <a:srgbClr val="E2E8EF"/>
          </a:solidFill>
          <a:ln w="12700">
            <a:solidFill>
              <a:srgbClr val="E2E8EF"/>
            </a:solidFill>
            <a:prstDash val="solid"/>
          </a:ln>
        </p:spPr>
      </p:sp>
      <p:sp>
        <p:nvSpPr>
          <p:cNvPr id="6" name="Shape 4"/>
          <p:cNvSpPr/>
          <p:nvPr/>
        </p:nvSpPr>
        <p:spPr>
          <a:xfrm>
            <a:off x="347472" y="1115568"/>
            <a:ext cx="1417320" cy="347472"/>
          </a:xfrm>
          <a:prstGeom prst="rect">
            <a:avLst/>
          </a:prstGeom>
          <a:solidFill>
            <a:srgbClr val="1B2A4A"/>
          </a:solidFill>
          <a:ln w="12700">
            <a:solidFill>
              <a:srgbClr val="1B2A4A"/>
            </a:solidFill>
            <a:prstDash val="solid"/>
          </a:ln>
        </p:spPr>
      </p:sp>
      <p:sp>
        <p:nvSpPr>
          <p:cNvPr id="7" name="Text 5"/>
          <p:cNvSpPr/>
          <p:nvPr/>
        </p:nvSpPr>
        <p:spPr>
          <a:xfrm>
            <a:off x="420624" y="1115568"/>
            <a:ext cx="1325880" cy="34747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Scenario</a:t>
            </a:r>
            <a:endParaRPr lang="en-US" sz="950" dirty="0"/>
          </a:p>
        </p:txBody>
      </p:sp>
      <p:sp>
        <p:nvSpPr>
          <p:cNvPr id="8" name="Shape 6"/>
          <p:cNvSpPr/>
          <p:nvPr/>
        </p:nvSpPr>
        <p:spPr>
          <a:xfrm>
            <a:off x="1764792" y="1115568"/>
            <a:ext cx="2148840" cy="347472"/>
          </a:xfrm>
          <a:prstGeom prst="rect">
            <a:avLst/>
          </a:prstGeom>
          <a:solidFill>
            <a:srgbClr val="1B2A4A"/>
          </a:solidFill>
          <a:ln w="12700">
            <a:solidFill>
              <a:srgbClr val="1B2A4A"/>
            </a:solidFill>
            <a:prstDash val="solid"/>
          </a:ln>
        </p:spPr>
      </p:sp>
      <p:sp>
        <p:nvSpPr>
          <p:cNvPr id="9" name="Text 7"/>
          <p:cNvSpPr/>
          <p:nvPr/>
        </p:nvSpPr>
        <p:spPr>
          <a:xfrm>
            <a:off x="1837944" y="1115568"/>
            <a:ext cx="2057400" cy="34747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CRE Market Impact</a:t>
            </a:r>
            <a:endParaRPr lang="en-US" sz="950" dirty="0"/>
          </a:p>
        </p:txBody>
      </p:sp>
      <p:sp>
        <p:nvSpPr>
          <p:cNvPr id="10" name="Shape 8"/>
          <p:cNvSpPr/>
          <p:nvPr/>
        </p:nvSpPr>
        <p:spPr>
          <a:xfrm>
            <a:off x="3913632" y="1115568"/>
            <a:ext cx="2606040" cy="347472"/>
          </a:xfrm>
          <a:prstGeom prst="rect">
            <a:avLst/>
          </a:prstGeom>
          <a:solidFill>
            <a:srgbClr val="1B2A4A"/>
          </a:solidFill>
          <a:ln w="12700">
            <a:solidFill>
              <a:srgbClr val="1B2A4A"/>
            </a:solidFill>
            <a:prstDash val="solid"/>
          </a:ln>
        </p:spPr>
      </p:sp>
      <p:sp>
        <p:nvSpPr>
          <p:cNvPr id="11" name="Text 9"/>
          <p:cNvSpPr/>
          <p:nvPr/>
        </p:nvSpPr>
        <p:spPr>
          <a:xfrm>
            <a:off x="3986784" y="1115568"/>
            <a:ext cx="2514600" cy="34747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Eastern Ontario</a:t>
            </a:r>
            <a:endParaRPr lang="en-US" sz="950" dirty="0"/>
          </a:p>
        </p:txBody>
      </p:sp>
      <p:sp>
        <p:nvSpPr>
          <p:cNvPr id="12" name="Shape 10"/>
          <p:cNvSpPr/>
          <p:nvPr/>
        </p:nvSpPr>
        <p:spPr>
          <a:xfrm>
            <a:off x="6519672" y="1115568"/>
            <a:ext cx="2212848" cy="347472"/>
          </a:xfrm>
          <a:prstGeom prst="rect">
            <a:avLst/>
          </a:prstGeom>
          <a:solidFill>
            <a:srgbClr val="1B2A4A"/>
          </a:solidFill>
          <a:ln w="12700">
            <a:solidFill>
              <a:srgbClr val="1B2A4A"/>
            </a:solidFill>
            <a:prstDash val="solid"/>
          </a:ln>
        </p:spPr>
      </p:sp>
      <p:sp>
        <p:nvSpPr>
          <p:cNvPr id="13" name="Text 11"/>
          <p:cNvSpPr/>
          <p:nvPr/>
        </p:nvSpPr>
        <p:spPr>
          <a:xfrm>
            <a:off x="6592824" y="1115568"/>
            <a:ext cx="2121408" cy="34747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CBRE Positioning</a:t>
            </a:r>
            <a:endParaRPr lang="en-US" sz="950" dirty="0"/>
          </a:p>
        </p:txBody>
      </p:sp>
      <p:sp>
        <p:nvSpPr>
          <p:cNvPr id="14" name="Shape 12"/>
          <p:cNvSpPr/>
          <p:nvPr/>
        </p:nvSpPr>
        <p:spPr>
          <a:xfrm>
            <a:off x="347472" y="1463040"/>
            <a:ext cx="1417320" cy="1207008"/>
          </a:xfrm>
          <a:prstGeom prst="rect">
            <a:avLst/>
          </a:prstGeom>
          <a:solidFill>
            <a:srgbClr val="D0EDE4"/>
          </a:solidFill>
          <a:ln w="9525">
            <a:solidFill>
              <a:srgbClr val="0D7A5F"/>
            </a:solidFill>
            <a:prstDash val="solid"/>
          </a:ln>
        </p:spPr>
      </p:sp>
      <p:sp>
        <p:nvSpPr>
          <p:cNvPr id="15" name="Shape 13"/>
          <p:cNvSpPr/>
          <p:nvPr/>
        </p:nvSpPr>
        <p:spPr>
          <a:xfrm>
            <a:off x="347472" y="1463040"/>
            <a:ext cx="64008" cy="1207008"/>
          </a:xfrm>
          <a:prstGeom prst="rect">
            <a:avLst/>
          </a:prstGeom>
          <a:solidFill>
            <a:srgbClr val="0D7A5F"/>
          </a:solidFill>
          <a:ln w="12700">
            <a:solidFill>
              <a:srgbClr val="0D7A5F"/>
            </a:solidFill>
            <a:prstDash val="solid"/>
          </a:ln>
        </p:spPr>
      </p:sp>
      <p:sp>
        <p:nvSpPr>
          <p:cNvPr id="16" name="Text 14"/>
          <p:cNvSpPr/>
          <p:nvPr/>
        </p:nvSpPr>
        <p:spPr>
          <a:xfrm>
            <a:off x="457200" y="1572768"/>
            <a:ext cx="1252728" cy="256032"/>
          </a:xfrm>
          <a:prstGeom prst="rect">
            <a:avLst/>
          </a:prstGeom>
          <a:noFill/>
          <a:ln/>
        </p:spPr>
        <p:txBody>
          <a:bodyPr wrap="square" lIns="0" tIns="0" rIns="0" bIns="0" rtlCol="0" anchor="ctr"/>
          <a:lstStyle/>
          <a:p>
            <a:pPr indent="0" marL="0">
              <a:buNone/>
            </a:pPr>
            <a:r>
              <a:rPr lang="en-US" sz="900" b="1" spc="150" kern="0" dirty="0">
                <a:solidFill>
                  <a:srgbClr val="0D7A5F"/>
                </a:solidFill>
                <a:latin typeface="Calibri" pitchFamily="34" charset="0"/>
                <a:ea typeface="Calibri" pitchFamily="34" charset="-122"/>
                <a:cs typeface="Calibri" pitchFamily="34" charset="-120"/>
              </a:rPr>
              <a:t>BASE CASE</a:t>
            </a:r>
            <a:endParaRPr lang="en-US" sz="900" dirty="0"/>
          </a:p>
        </p:txBody>
      </p:sp>
      <p:sp>
        <p:nvSpPr>
          <p:cNvPr id="17" name="Text 15"/>
          <p:cNvSpPr/>
          <p:nvPr/>
        </p:nvSpPr>
        <p:spPr>
          <a:xfrm>
            <a:off x="457200" y="1828800"/>
            <a:ext cx="1252728" cy="566928"/>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AI demand meets projections</a:t>
            </a:r>
            <a:endParaRPr lang="en-US" sz="850" dirty="0"/>
          </a:p>
        </p:txBody>
      </p:sp>
      <p:sp>
        <p:nvSpPr>
          <p:cNvPr id="18" name="Shape 16"/>
          <p:cNvSpPr/>
          <p:nvPr/>
        </p:nvSpPr>
        <p:spPr>
          <a:xfrm>
            <a:off x="1764792" y="1463040"/>
            <a:ext cx="2148840" cy="1207008"/>
          </a:xfrm>
          <a:prstGeom prst="rect">
            <a:avLst/>
          </a:prstGeom>
          <a:solidFill>
            <a:srgbClr val="F4F6F8"/>
          </a:solidFill>
          <a:ln w="6350">
            <a:solidFill>
              <a:srgbClr val="E2E8EF"/>
            </a:solidFill>
            <a:prstDash val="solid"/>
          </a:ln>
        </p:spPr>
      </p:sp>
      <p:sp>
        <p:nvSpPr>
          <p:cNvPr id="19" name="Text 17"/>
          <p:cNvSpPr/>
          <p:nvPr/>
        </p:nvSpPr>
        <p:spPr>
          <a:xfrm>
            <a:off x="1856232" y="1572768"/>
            <a:ext cx="1984248"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Strong NOI, cap rate stability, continued pre-leasing</a:t>
            </a:r>
            <a:endParaRPr lang="en-US" sz="850" dirty="0"/>
          </a:p>
        </p:txBody>
      </p:sp>
      <p:sp>
        <p:nvSpPr>
          <p:cNvPr id="20" name="Shape 18"/>
          <p:cNvSpPr/>
          <p:nvPr/>
        </p:nvSpPr>
        <p:spPr>
          <a:xfrm>
            <a:off x="3913632" y="1463040"/>
            <a:ext cx="2606040" cy="1207008"/>
          </a:xfrm>
          <a:prstGeom prst="rect">
            <a:avLst/>
          </a:prstGeom>
          <a:solidFill>
            <a:srgbClr val="F4F6F8"/>
          </a:solidFill>
          <a:ln w="6350">
            <a:solidFill>
              <a:srgbClr val="E2E8EF"/>
            </a:solidFill>
            <a:prstDash val="solid"/>
          </a:ln>
        </p:spPr>
      </p:sp>
      <p:sp>
        <p:nvSpPr>
          <p:cNvPr id="21" name="Text 19"/>
          <p:cNvSpPr/>
          <p:nvPr/>
        </p:nvSpPr>
        <p:spPr>
          <a:xfrm>
            <a:off x="4005072" y="1572768"/>
            <a:ext cx="2441448"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Toronto pipeline absorbed; Eastern ON land banking accelerates; Darlington SMR investment case firms up</a:t>
            </a:r>
            <a:endParaRPr lang="en-US" sz="850" dirty="0"/>
          </a:p>
        </p:txBody>
      </p:sp>
      <p:sp>
        <p:nvSpPr>
          <p:cNvPr id="22" name="Shape 20"/>
          <p:cNvSpPr/>
          <p:nvPr/>
        </p:nvSpPr>
        <p:spPr>
          <a:xfrm>
            <a:off x="6519672" y="1463040"/>
            <a:ext cx="2212848" cy="1207008"/>
          </a:xfrm>
          <a:prstGeom prst="rect">
            <a:avLst/>
          </a:prstGeom>
          <a:solidFill>
            <a:srgbClr val="F4F6F8"/>
          </a:solidFill>
          <a:ln w="6350">
            <a:solidFill>
              <a:srgbClr val="E2E8EF"/>
            </a:solidFill>
            <a:prstDash val="solid"/>
          </a:ln>
        </p:spPr>
      </p:sp>
      <p:sp>
        <p:nvSpPr>
          <p:cNvPr id="23" name="Text 21"/>
          <p:cNvSpPr/>
          <p:nvPr/>
        </p:nvSpPr>
        <p:spPr>
          <a:xfrm>
            <a:off x="6611112" y="1572768"/>
            <a:ext cx="2048256"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Full advisory mandate: leasing, capital markets, land, valuation</a:t>
            </a:r>
            <a:endParaRPr lang="en-US" sz="850" dirty="0"/>
          </a:p>
        </p:txBody>
      </p:sp>
      <p:sp>
        <p:nvSpPr>
          <p:cNvPr id="24" name="Shape 22"/>
          <p:cNvSpPr/>
          <p:nvPr/>
        </p:nvSpPr>
        <p:spPr>
          <a:xfrm>
            <a:off x="347472" y="2724912"/>
            <a:ext cx="1417320" cy="1207008"/>
          </a:xfrm>
          <a:prstGeom prst="rect">
            <a:avLst/>
          </a:prstGeom>
          <a:solidFill>
            <a:srgbClr val="FFF3CD"/>
          </a:solidFill>
          <a:ln w="9525">
            <a:solidFill>
              <a:srgbClr val="C9922A"/>
            </a:solidFill>
            <a:prstDash val="solid"/>
          </a:ln>
        </p:spPr>
      </p:sp>
      <p:sp>
        <p:nvSpPr>
          <p:cNvPr id="25" name="Shape 23"/>
          <p:cNvSpPr/>
          <p:nvPr/>
        </p:nvSpPr>
        <p:spPr>
          <a:xfrm>
            <a:off x="347472" y="2724912"/>
            <a:ext cx="64008" cy="1207008"/>
          </a:xfrm>
          <a:prstGeom prst="rect">
            <a:avLst/>
          </a:prstGeom>
          <a:solidFill>
            <a:srgbClr val="C9922A"/>
          </a:solidFill>
          <a:ln w="12700">
            <a:solidFill>
              <a:srgbClr val="C9922A"/>
            </a:solidFill>
            <a:prstDash val="solid"/>
          </a:ln>
        </p:spPr>
      </p:sp>
      <p:sp>
        <p:nvSpPr>
          <p:cNvPr id="26" name="Text 24"/>
          <p:cNvSpPr/>
          <p:nvPr/>
        </p:nvSpPr>
        <p:spPr>
          <a:xfrm>
            <a:off x="457200" y="2834640"/>
            <a:ext cx="1252728" cy="256032"/>
          </a:xfrm>
          <a:prstGeom prst="rect">
            <a:avLst/>
          </a:prstGeom>
          <a:noFill/>
          <a:ln/>
        </p:spPr>
        <p:txBody>
          <a:bodyPr wrap="square" lIns="0" tIns="0" rIns="0" bIns="0" rtlCol="0" anchor="ctr"/>
          <a:lstStyle/>
          <a:p>
            <a:pPr indent="0" marL="0">
              <a:buNone/>
            </a:pPr>
            <a:r>
              <a:rPr lang="en-US" sz="900" b="1" spc="150" kern="0" dirty="0">
                <a:solidFill>
                  <a:srgbClr val="C9922A"/>
                </a:solidFill>
                <a:latin typeface="Calibri" pitchFamily="34" charset="0"/>
                <a:ea typeface="Calibri" pitchFamily="34" charset="-122"/>
                <a:cs typeface="Calibri" pitchFamily="34" charset="-120"/>
              </a:rPr>
              <a:t>MODERATION</a:t>
            </a:r>
            <a:endParaRPr lang="en-US" sz="900" dirty="0"/>
          </a:p>
        </p:txBody>
      </p:sp>
      <p:sp>
        <p:nvSpPr>
          <p:cNvPr id="27" name="Text 25"/>
          <p:cNvSpPr/>
          <p:nvPr/>
        </p:nvSpPr>
        <p:spPr>
          <a:xfrm>
            <a:off x="457200" y="3090672"/>
            <a:ext cx="1252728" cy="566928"/>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AI equity bubble corrects, demand moderates</a:t>
            </a:r>
            <a:endParaRPr lang="en-US" sz="850" dirty="0"/>
          </a:p>
        </p:txBody>
      </p:sp>
      <p:sp>
        <p:nvSpPr>
          <p:cNvPr id="28" name="Shape 26"/>
          <p:cNvSpPr/>
          <p:nvPr/>
        </p:nvSpPr>
        <p:spPr>
          <a:xfrm>
            <a:off x="1764792" y="2724912"/>
            <a:ext cx="2148840" cy="1207008"/>
          </a:xfrm>
          <a:prstGeom prst="rect">
            <a:avLst/>
          </a:prstGeom>
          <a:solidFill>
            <a:srgbClr val="FFFFFF"/>
          </a:solidFill>
          <a:ln w="6350">
            <a:solidFill>
              <a:srgbClr val="E2E8EF"/>
            </a:solidFill>
            <a:prstDash val="solid"/>
          </a:ln>
        </p:spPr>
      </p:sp>
      <p:sp>
        <p:nvSpPr>
          <p:cNvPr id="29" name="Text 27"/>
          <p:cNvSpPr/>
          <p:nvPr/>
        </p:nvSpPr>
        <p:spPr>
          <a:xfrm>
            <a:off x="1856232" y="2834640"/>
            <a:ext cx="1984248"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Near-term leasing slowdown; speculative development stalls; hyperscaler capex cut 20–30%</a:t>
            </a:r>
            <a:endParaRPr lang="en-US" sz="850" dirty="0"/>
          </a:p>
        </p:txBody>
      </p:sp>
      <p:sp>
        <p:nvSpPr>
          <p:cNvPr id="30" name="Shape 28"/>
          <p:cNvSpPr/>
          <p:nvPr/>
        </p:nvSpPr>
        <p:spPr>
          <a:xfrm>
            <a:off x="3913632" y="2724912"/>
            <a:ext cx="2606040" cy="1207008"/>
          </a:xfrm>
          <a:prstGeom prst="rect">
            <a:avLst/>
          </a:prstGeom>
          <a:solidFill>
            <a:srgbClr val="FFFFFF"/>
          </a:solidFill>
          <a:ln w="6350">
            <a:solidFill>
              <a:srgbClr val="E2E8EF"/>
            </a:solidFill>
            <a:prstDash val="solid"/>
          </a:ln>
        </p:spPr>
      </p:sp>
      <p:sp>
        <p:nvSpPr>
          <p:cNvPr id="31" name="Text 29"/>
          <p:cNvSpPr/>
          <p:nvPr/>
        </p:nvSpPr>
        <p:spPr>
          <a:xfrm>
            <a:off x="4005072" y="2834640"/>
            <a:ext cx="2441448"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Pre-committed Toronto pipeline mostly delivers; Eastern ON land banking pauses; opportunity for patient capital to acquire at reset prices</a:t>
            </a:r>
            <a:endParaRPr lang="en-US" sz="850" dirty="0"/>
          </a:p>
        </p:txBody>
      </p:sp>
      <p:sp>
        <p:nvSpPr>
          <p:cNvPr id="32" name="Shape 30"/>
          <p:cNvSpPr/>
          <p:nvPr/>
        </p:nvSpPr>
        <p:spPr>
          <a:xfrm>
            <a:off x="6519672" y="2724912"/>
            <a:ext cx="2212848" cy="1207008"/>
          </a:xfrm>
          <a:prstGeom prst="rect">
            <a:avLst/>
          </a:prstGeom>
          <a:solidFill>
            <a:srgbClr val="FFFFFF"/>
          </a:solidFill>
          <a:ln w="6350">
            <a:solidFill>
              <a:srgbClr val="E2E8EF"/>
            </a:solidFill>
            <a:prstDash val="solid"/>
          </a:ln>
        </p:spPr>
      </p:sp>
      <p:sp>
        <p:nvSpPr>
          <p:cNvPr id="33" name="Text 31"/>
          <p:cNvSpPr/>
          <p:nvPr/>
        </p:nvSpPr>
        <p:spPr>
          <a:xfrm>
            <a:off x="6611112" y="2834640"/>
            <a:ext cx="2048256"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Shift to distressed advisory and restructuring; maintain Eastern ON research coverage</a:t>
            </a:r>
            <a:endParaRPr lang="en-US" sz="850" dirty="0"/>
          </a:p>
        </p:txBody>
      </p:sp>
      <p:sp>
        <p:nvSpPr>
          <p:cNvPr id="34" name="Shape 32"/>
          <p:cNvSpPr/>
          <p:nvPr/>
        </p:nvSpPr>
        <p:spPr>
          <a:xfrm>
            <a:off x="347472" y="3986784"/>
            <a:ext cx="1417320" cy="1207008"/>
          </a:xfrm>
          <a:prstGeom prst="rect">
            <a:avLst/>
          </a:prstGeom>
          <a:solidFill>
            <a:srgbClr val="FAE0E0"/>
          </a:solidFill>
          <a:ln w="9525">
            <a:solidFill>
              <a:srgbClr val="B83232"/>
            </a:solidFill>
            <a:prstDash val="solid"/>
          </a:ln>
        </p:spPr>
      </p:sp>
      <p:sp>
        <p:nvSpPr>
          <p:cNvPr id="35" name="Shape 33"/>
          <p:cNvSpPr/>
          <p:nvPr/>
        </p:nvSpPr>
        <p:spPr>
          <a:xfrm>
            <a:off x="347472" y="3986784"/>
            <a:ext cx="64008" cy="1207008"/>
          </a:xfrm>
          <a:prstGeom prst="rect">
            <a:avLst/>
          </a:prstGeom>
          <a:solidFill>
            <a:srgbClr val="B83232"/>
          </a:solidFill>
          <a:ln w="12700">
            <a:solidFill>
              <a:srgbClr val="B83232"/>
            </a:solidFill>
            <a:prstDash val="solid"/>
          </a:ln>
        </p:spPr>
      </p:sp>
      <p:sp>
        <p:nvSpPr>
          <p:cNvPr id="36" name="Text 34"/>
          <p:cNvSpPr/>
          <p:nvPr/>
        </p:nvSpPr>
        <p:spPr>
          <a:xfrm>
            <a:off x="457200" y="4096512"/>
            <a:ext cx="1252728" cy="256032"/>
          </a:xfrm>
          <a:prstGeom prst="rect">
            <a:avLst/>
          </a:prstGeom>
          <a:noFill/>
          <a:ln/>
        </p:spPr>
        <p:txBody>
          <a:bodyPr wrap="square" lIns="0" tIns="0" rIns="0" bIns="0" rtlCol="0" anchor="ctr"/>
          <a:lstStyle/>
          <a:p>
            <a:pPr indent="0" marL="0">
              <a:buNone/>
            </a:pPr>
            <a:r>
              <a:rPr lang="en-US" sz="900" b="1" spc="150" kern="0" dirty="0">
                <a:solidFill>
                  <a:srgbClr val="B83232"/>
                </a:solidFill>
                <a:latin typeface="Calibri" pitchFamily="34" charset="0"/>
                <a:ea typeface="Calibri" pitchFamily="34" charset="-122"/>
                <a:cs typeface="Calibri" pitchFamily="34" charset="-120"/>
              </a:rPr>
              <a:t>STRESS</a:t>
            </a:r>
            <a:endParaRPr lang="en-US" sz="900" dirty="0"/>
          </a:p>
        </p:txBody>
      </p:sp>
      <p:sp>
        <p:nvSpPr>
          <p:cNvPr id="37" name="Text 35"/>
          <p:cNvSpPr/>
          <p:nvPr/>
        </p:nvSpPr>
        <p:spPr>
          <a:xfrm>
            <a:off x="457200" y="4352544"/>
            <a:ext cx="1252728" cy="566928"/>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Severe correction (Burry scenario)</a:t>
            </a:r>
            <a:endParaRPr lang="en-US" sz="850" dirty="0"/>
          </a:p>
        </p:txBody>
      </p:sp>
      <p:sp>
        <p:nvSpPr>
          <p:cNvPr id="38" name="Shape 36"/>
          <p:cNvSpPr/>
          <p:nvPr/>
        </p:nvSpPr>
        <p:spPr>
          <a:xfrm>
            <a:off x="1764792" y="3986784"/>
            <a:ext cx="2148840" cy="1207008"/>
          </a:xfrm>
          <a:prstGeom prst="rect">
            <a:avLst/>
          </a:prstGeom>
          <a:solidFill>
            <a:srgbClr val="F4F6F8"/>
          </a:solidFill>
          <a:ln w="6350">
            <a:solidFill>
              <a:srgbClr val="E2E8EF"/>
            </a:solidFill>
            <a:prstDash val="solid"/>
          </a:ln>
        </p:spPr>
      </p:sp>
      <p:sp>
        <p:nvSpPr>
          <p:cNvPr id="39" name="Text 37"/>
          <p:cNvSpPr/>
          <p:nvPr/>
        </p:nvSpPr>
        <p:spPr>
          <a:xfrm>
            <a:off x="1856232" y="4096512"/>
            <a:ext cx="1984248"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Data centre equity repricing; development write-downs; secondary market transactions</a:t>
            </a:r>
            <a:endParaRPr lang="en-US" sz="850" dirty="0"/>
          </a:p>
        </p:txBody>
      </p:sp>
      <p:sp>
        <p:nvSpPr>
          <p:cNvPr id="40" name="Shape 38"/>
          <p:cNvSpPr/>
          <p:nvPr/>
        </p:nvSpPr>
        <p:spPr>
          <a:xfrm>
            <a:off x="3913632" y="3986784"/>
            <a:ext cx="2606040" cy="1207008"/>
          </a:xfrm>
          <a:prstGeom prst="rect">
            <a:avLst/>
          </a:prstGeom>
          <a:solidFill>
            <a:srgbClr val="F4F6F8"/>
          </a:solidFill>
          <a:ln w="6350">
            <a:solidFill>
              <a:srgbClr val="E2E8EF"/>
            </a:solidFill>
            <a:prstDash val="solid"/>
          </a:ln>
        </p:spPr>
      </p:sp>
      <p:sp>
        <p:nvSpPr>
          <p:cNvPr id="41" name="Text 39"/>
          <p:cNvSpPr/>
          <p:nvPr/>
        </p:nvSpPr>
        <p:spPr>
          <a:xfrm>
            <a:off x="4005072" y="4096512"/>
            <a:ext cx="2441448"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Hyperscale assets with long leases hold; short-lease colocation repriced; Eastern ON land values compressed but fundamentals intact</a:t>
            </a:r>
            <a:endParaRPr lang="en-US" sz="850" dirty="0"/>
          </a:p>
        </p:txBody>
      </p:sp>
      <p:sp>
        <p:nvSpPr>
          <p:cNvPr id="42" name="Shape 40"/>
          <p:cNvSpPr/>
          <p:nvPr/>
        </p:nvSpPr>
        <p:spPr>
          <a:xfrm>
            <a:off x="6519672" y="3986784"/>
            <a:ext cx="2212848" cy="1207008"/>
          </a:xfrm>
          <a:prstGeom prst="rect">
            <a:avLst/>
          </a:prstGeom>
          <a:solidFill>
            <a:srgbClr val="F4F6F8"/>
          </a:solidFill>
          <a:ln w="6350">
            <a:solidFill>
              <a:srgbClr val="E2E8EF"/>
            </a:solidFill>
            <a:prstDash val="solid"/>
          </a:ln>
        </p:spPr>
      </p:sp>
      <p:sp>
        <p:nvSpPr>
          <p:cNvPr id="43" name="Text 41"/>
          <p:cNvSpPr/>
          <p:nvPr/>
        </p:nvSpPr>
        <p:spPr>
          <a:xfrm>
            <a:off x="6611112" y="4096512"/>
            <a:ext cx="2048256" cy="1005840"/>
          </a:xfrm>
          <a:prstGeom prst="rect">
            <a:avLst/>
          </a:prstGeom>
          <a:noFill/>
          <a:ln/>
        </p:spPr>
        <p:txBody>
          <a:bodyPr wrap="square" lIns="0" tIns="0" rIns="0" bIns="0" rtlCol="0" anchor="t"/>
          <a:lstStyle/>
          <a:p>
            <a:pPr indent="0" marL="0">
              <a:buNone/>
            </a:pPr>
            <a:r>
              <a:rPr lang="en-US" sz="850" dirty="0">
                <a:solidFill>
                  <a:srgbClr val="111111"/>
                </a:solidFill>
                <a:latin typeface="Calibri" pitchFamily="34" charset="0"/>
                <a:ea typeface="Calibri" pitchFamily="34" charset="-122"/>
                <a:cs typeface="Calibri" pitchFamily="34" charset="-120"/>
              </a:rPr>
              <a:t>Valuation and workout advisory; reputational protection from having avoided speculative mandates</a:t>
            </a:r>
            <a:endParaRPr lang="en-US" sz="850" dirty="0"/>
          </a:p>
        </p:txBody>
      </p:sp>
      <p:sp>
        <p:nvSpPr>
          <p:cNvPr id="44" name="Shape 42"/>
          <p:cNvSpPr/>
          <p:nvPr/>
        </p:nvSpPr>
        <p:spPr>
          <a:xfrm>
            <a:off x="0" y="4850892"/>
            <a:ext cx="9144000" cy="292608"/>
          </a:xfrm>
          <a:prstGeom prst="rect">
            <a:avLst/>
          </a:prstGeom>
          <a:solidFill>
            <a:srgbClr val="F4F6F8"/>
          </a:solidFill>
          <a:ln w="12700">
            <a:solidFill>
              <a:srgbClr val="E2E8EF"/>
            </a:solidFill>
            <a:prstDash val="solid"/>
          </a:ln>
        </p:spPr>
      </p:sp>
      <p:sp>
        <p:nvSpPr>
          <p:cNvPr id="45" name="Text 43"/>
          <p:cNvSpPr/>
          <p:nvPr/>
        </p:nvSpPr>
        <p:spPr>
          <a:xfrm>
            <a:off x="228600" y="4887468"/>
            <a:ext cx="5486400" cy="21945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CBRE RESEARCH  |  DATA CENTRE DEMAND PARADOX  |  MARCH 2026</a:t>
            </a:r>
            <a:endParaRPr lang="en-US" sz="700" dirty="0"/>
          </a:p>
        </p:txBody>
      </p:sp>
      <p:sp>
        <p:nvSpPr>
          <p:cNvPr id="46" name="Text 44"/>
          <p:cNvSpPr/>
          <p:nvPr/>
        </p:nvSpPr>
        <p:spPr>
          <a:xfrm>
            <a:off x="5943600" y="4887468"/>
            <a:ext cx="2971800" cy="219456"/>
          </a:xfrm>
          <a:prstGeom prst="rect">
            <a:avLst/>
          </a:prstGeom>
          <a:noFill/>
          <a:ln/>
        </p:spPr>
        <p:txBody>
          <a:bodyPr wrap="square" lIns="0" tIns="0" rIns="0" bIns="0" rtlCol="0" anchor="ctr"/>
          <a:lstStyle/>
          <a:p>
            <a:pPr algn="r" indent="0" marL="0">
              <a:buNone/>
            </a:pPr>
            <a:r>
              <a:rPr lang="en-US" sz="700" dirty="0">
                <a:solidFill>
                  <a:srgbClr val="64748B"/>
                </a:solidFill>
                <a:latin typeface="Calibri" pitchFamily="34" charset="0"/>
                <a:ea typeface="Calibri" pitchFamily="34" charset="-122"/>
                <a:cs typeface="Calibri" pitchFamily="34" charset="-120"/>
              </a:rPr>
              <a:t>Source: CBRE, AEW Capital, Burry Substack, Bain 2025–2026</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5F"/>
          </a:solidFill>
          <a:ln w="12700">
            <a:solidFill>
              <a:srgbClr val="0D7A5F"/>
            </a:solidFill>
            <a:prstDash val="solid"/>
          </a:ln>
        </p:spPr>
      </p:sp>
      <p:sp>
        <p:nvSpPr>
          <p:cNvPr id="3" name="Text 1"/>
          <p:cNvSpPr/>
          <p:nvPr/>
        </p:nvSpPr>
        <p:spPr>
          <a:xfrm>
            <a:off x="347472" y="201168"/>
            <a:ext cx="8595360" cy="384048"/>
          </a:xfrm>
          <a:prstGeom prst="rect">
            <a:avLst/>
          </a:prstGeom>
          <a:noFill/>
          <a:ln/>
        </p:spPr>
        <p:txBody>
          <a:bodyPr wrap="square" lIns="0" tIns="0" rIns="0" bIns="0" rtlCol="0" anchor="ctr"/>
          <a:lstStyle/>
          <a:p>
            <a:pPr indent="0" marL="0">
              <a:buNone/>
            </a:pPr>
            <a:r>
              <a:rPr lang="en-US" sz="1300" b="1" spc="300" kern="0" dirty="0">
                <a:solidFill>
                  <a:srgbClr val="0D7A5F"/>
                </a:solidFill>
                <a:latin typeface="Calibri" pitchFamily="34" charset="0"/>
                <a:ea typeface="Calibri" pitchFamily="34" charset="-122"/>
                <a:cs typeface="Calibri" pitchFamily="34" charset="-120"/>
              </a:rPr>
              <a:t>CONCLUSIONS &amp; RECOMMENDED ACTIONS</a:t>
            </a:r>
            <a:endParaRPr lang="en-US" sz="1300" dirty="0"/>
          </a:p>
        </p:txBody>
      </p:sp>
      <p:sp>
        <p:nvSpPr>
          <p:cNvPr id="4" name="Text 2"/>
          <p:cNvSpPr/>
          <p:nvPr/>
        </p:nvSpPr>
        <p:spPr>
          <a:xfrm>
            <a:off x="347472" y="603504"/>
            <a:ext cx="8595360" cy="402336"/>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The Data Centre Demand Paradox — Eastern Ontario</a:t>
            </a:r>
            <a:endParaRPr lang="en-US" sz="2200" dirty="0"/>
          </a:p>
        </p:txBody>
      </p:sp>
      <p:sp>
        <p:nvSpPr>
          <p:cNvPr id="5" name="Shape 3"/>
          <p:cNvSpPr/>
          <p:nvPr/>
        </p:nvSpPr>
        <p:spPr>
          <a:xfrm>
            <a:off x="347472" y="1042416"/>
            <a:ext cx="8503920" cy="27432"/>
          </a:xfrm>
          <a:prstGeom prst="rect">
            <a:avLst/>
          </a:prstGeom>
          <a:solidFill>
            <a:srgbClr val="0D7A5F"/>
          </a:solidFill>
          <a:ln w="12700">
            <a:solidFill>
              <a:srgbClr val="0D7A5F"/>
            </a:solidFill>
            <a:prstDash val="solid"/>
          </a:ln>
        </p:spPr>
      </p:sp>
      <p:sp>
        <p:nvSpPr>
          <p:cNvPr id="6" name="Shape 4"/>
          <p:cNvSpPr/>
          <p:nvPr/>
        </p:nvSpPr>
        <p:spPr>
          <a:xfrm>
            <a:off x="347472" y="1115568"/>
            <a:ext cx="2743200" cy="3584448"/>
          </a:xfrm>
          <a:prstGeom prst="rect">
            <a:avLst/>
          </a:prstGeom>
          <a:solidFill>
            <a:srgbClr val="FFFFFF">
              <a:alpha val="12000"/>
            </a:srgbClr>
          </a:solidFill>
          <a:ln w="12700">
            <a:solidFill>
              <a:srgbClr val="FFFFFF">
                <a:alpha val="40000"/>
              </a:srgbClr>
            </a:solidFill>
            <a:prstDash val="solid"/>
          </a:ln>
        </p:spPr>
      </p:sp>
      <p:sp>
        <p:nvSpPr>
          <p:cNvPr id="7" name="Shape 5"/>
          <p:cNvSpPr/>
          <p:nvPr/>
        </p:nvSpPr>
        <p:spPr>
          <a:xfrm>
            <a:off x="347472" y="1115568"/>
            <a:ext cx="2743200" cy="54864"/>
          </a:xfrm>
          <a:prstGeom prst="rect">
            <a:avLst/>
          </a:prstGeom>
          <a:solidFill>
            <a:srgbClr val="0D7A5F"/>
          </a:solidFill>
          <a:ln w="12700">
            <a:solidFill>
              <a:srgbClr val="0D7A5F"/>
            </a:solidFill>
            <a:prstDash val="solid"/>
          </a:ln>
        </p:spPr>
      </p:sp>
      <p:sp>
        <p:nvSpPr>
          <p:cNvPr id="8" name="Shape 6"/>
          <p:cNvSpPr/>
          <p:nvPr/>
        </p:nvSpPr>
        <p:spPr>
          <a:xfrm>
            <a:off x="1444752" y="1170432"/>
            <a:ext cx="548640" cy="548640"/>
          </a:xfrm>
          <a:prstGeom prst="ellipse">
            <a:avLst/>
          </a:prstGeom>
          <a:solidFill>
            <a:srgbClr val="0D7A5F"/>
          </a:solidFill>
          <a:ln w="12700">
            <a:solidFill>
              <a:srgbClr val="0D7A5F"/>
            </a:solidFill>
            <a:prstDash val="solid"/>
          </a:ln>
        </p:spPr>
      </p:sp>
      <p:pic>
        <p:nvPicPr>
          <p:cNvPr id="9" name="Image 0" descr="preencoded.png">    </p:cNvPr>
          <p:cNvPicPr>
            <a:picLocks noChangeAspect="1"/>
          </p:cNvPicPr>
          <p:nvPr/>
        </p:nvPicPr>
        <p:blipFill>
          <a:blip r:embed="rId1"/>
          <a:stretch>
            <a:fillRect/>
          </a:stretch>
        </p:blipFill>
        <p:spPr>
          <a:xfrm>
            <a:off x="1554480" y="1234440"/>
            <a:ext cx="329184" cy="329184"/>
          </a:xfrm>
          <a:prstGeom prst="rect">
            <a:avLst/>
          </a:prstGeom>
        </p:spPr>
      </p:pic>
      <p:sp>
        <p:nvSpPr>
          <p:cNvPr id="10" name="Text 7"/>
          <p:cNvSpPr/>
          <p:nvPr/>
        </p:nvSpPr>
        <p:spPr>
          <a:xfrm>
            <a:off x="438912" y="1773936"/>
            <a:ext cx="2560320" cy="329184"/>
          </a:xfrm>
          <a:prstGeom prst="rect">
            <a:avLst/>
          </a:prstGeom>
          <a:noFill/>
          <a:ln/>
        </p:spPr>
        <p:txBody>
          <a:bodyPr wrap="square" lIns="0" tIns="0" rIns="0" bIns="0" rtlCol="0" anchor="ctr"/>
          <a:lstStyle/>
          <a:p>
            <a:pPr algn="ctr" indent="0" marL="0">
              <a:buNone/>
            </a:pPr>
            <a:r>
              <a:rPr lang="en-US" sz="1000" b="1" dirty="0">
                <a:solidFill>
                  <a:srgbClr val="0D7A5F"/>
                </a:solidFill>
                <a:latin typeface="Calibri" pitchFamily="34" charset="0"/>
                <a:ea typeface="Calibri" pitchFamily="34" charset="-122"/>
                <a:cs typeface="Calibri" pitchFamily="34" charset="-120"/>
              </a:rPr>
              <a:t>THE OPPORTUNITY IS REAL</a:t>
            </a:r>
            <a:endParaRPr lang="en-US" sz="1000" dirty="0"/>
          </a:p>
        </p:txBody>
      </p:sp>
      <p:sp>
        <p:nvSpPr>
          <p:cNvPr id="11" name="Text 8"/>
          <p:cNvSpPr/>
          <p:nvPr/>
        </p:nvSpPr>
        <p:spPr>
          <a:xfrm>
            <a:off x="484632" y="2157984"/>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F4F6F8"/>
                </a:solidFill>
                <a:latin typeface="Calibri" pitchFamily="34" charset="0"/>
                <a:ea typeface="Calibri" pitchFamily="34" charset="-122"/>
                <a:cs typeface="Calibri" pitchFamily="34" charset="-120"/>
              </a:rPr>
              <a:t>Toronto pipeline: 312 MW live, 596 MW coming — 94.5% pre-committed</a:t>
            </a:r>
            <a:endParaRPr lang="en-US" sz="850" dirty="0"/>
          </a:p>
        </p:txBody>
      </p:sp>
      <p:sp>
        <p:nvSpPr>
          <p:cNvPr id="12" name="Text 9"/>
          <p:cNvSpPr/>
          <p:nvPr/>
        </p:nvSpPr>
        <p:spPr>
          <a:xfrm>
            <a:off x="484632" y="2761488"/>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F4F6F8"/>
                </a:solidFill>
                <a:latin typeface="Calibri" pitchFamily="34" charset="0"/>
                <a:ea typeface="Calibri" pitchFamily="34" charset="-122"/>
                <a:cs typeface="Calibri" pitchFamily="34" charset="-120"/>
              </a:rPr>
              <a:t>Eastern Ontario is underpriced relative to its power and water advantages</a:t>
            </a:r>
            <a:endParaRPr lang="en-US" sz="850" dirty="0"/>
          </a:p>
        </p:txBody>
      </p:sp>
      <p:sp>
        <p:nvSpPr>
          <p:cNvPr id="13" name="Text 10"/>
          <p:cNvSpPr/>
          <p:nvPr/>
        </p:nvSpPr>
        <p:spPr>
          <a:xfrm>
            <a:off x="484632" y="3364992"/>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F4F6F8"/>
                </a:solidFill>
                <a:latin typeface="Calibri" pitchFamily="34" charset="0"/>
                <a:ea typeface="Calibri" pitchFamily="34" charset="-122"/>
                <a:cs typeface="Calibri" pitchFamily="34" charset="-120"/>
              </a:rPr>
              <a:t>Darlington SMR is a 2030s catalyst that will compound first-mover land positions</a:t>
            </a:r>
            <a:endParaRPr lang="en-US" sz="850" dirty="0"/>
          </a:p>
        </p:txBody>
      </p:sp>
      <p:sp>
        <p:nvSpPr>
          <p:cNvPr id="14" name="Text 11"/>
          <p:cNvSpPr/>
          <p:nvPr/>
        </p:nvSpPr>
        <p:spPr>
          <a:xfrm>
            <a:off x="484632" y="3968496"/>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F4F6F8"/>
                </a:solidFill>
                <a:latin typeface="Calibri" pitchFamily="34" charset="0"/>
                <a:ea typeface="Calibri" pitchFamily="34" charset="-122"/>
                <a:cs typeface="Calibri" pitchFamily="34" charset="-120"/>
              </a:rPr>
              <a:t>Canadian pension capital is ready and seeking domestic data centre exposure</a:t>
            </a:r>
            <a:endParaRPr lang="en-US" sz="850" dirty="0"/>
          </a:p>
        </p:txBody>
      </p:sp>
      <p:sp>
        <p:nvSpPr>
          <p:cNvPr id="15" name="Shape 12"/>
          <p:cNvSpPr/>
          <p:nvPr/>
        </p:nvSpPr>
        <p:spPr>
          <a:xfrm>
            <a:off x="3227832" y="1115568"/>
            <a:ext cx="2743200" cy="3584448"/>
          </a:xfrm>
          <a:prstGeom prst="rect">
            <a:avLst/>
          </a:prstGeom>
          <a:solidFill>
            <a:srgbClr val="FFFFFF">
              <a:alpha val="12000"/>
            </a:srgbClr>
          </a:solidFill>
          <a:ln w="12700">
            <a:solidFill>
              <a:srgbClr val="FFFFFF">
                <a:alpha val="40000"/>
              </a:srgbClr>
            </a:solidFill>
            <a:prstDash val="solid"/>
          </a:ln>
        </p:spPr>
      </p:sp>
      <p:sp>
        <p:nvSpPr>
          <p:cNvPr id="16" name="Shape 13"/>
          <p:cNvSpPr/>
          <p:nvPr/>
        </p:nvSpPr>
        <p:spPr>
          <a:xfrm>
            <a:off x="3227832" y="1115568"/>
            <a:ext cx="2743200" cy="54864"/>
          </a:xfrm>
          <a:prstGeom prst="rect">
            <a:avLst/>
          </a:prstGeom>
          <a:solidFill>
            <a:srgbClr val="C9922A"/>
          </a:solidFill>
          <a:ln w="12700">
            <a:solidFill>
              <a:srgbClr val="C9922A"/>
            </a:solidFill>
            <a:prstDash val="solid"/>
          </a:ln>
        </p:spPr>
      </p:sp>
      <p:sp>
        <p:nvSpPr>
          <p:cNvPr id="17" name="Shape 14"/>
          <p:cNvSpPr/>
          <p:nvPr/>
        </p:nvSpPr>
        <p:spPr>
          <a:xfrm>
            <a:off x="4325112" y="1170432"/>
            <a:ext cx="548640" cy="548640"/>
          </a:xfrm>
          <a:prstGeom prst="ellipse">
            <a:avLst/>
          </a:prstGeom>
          <a:solidFill>
            <a:srgbClr val="C9922A"/>
          </a:solidFill>
          <a:ln w="12700">
            <a:solidFill>
              <a:srgbClr val="C9922A"/>
            </a:solidFill>
            <a:prstDash val="solid"/>
          </a:ln>
        </p:spPr>
      </p:sp>
      <p:pic>
        <p:nvPicPr>
          <p:cNvPr id="18" name="Image 1" descr="preencoded.png">    </p:cNvPr>
          <p:cNvPicPr>
            <a:picLocks noChangeAspect="1"/>
          </p:cNvPicPr>
          <p:nvPr/>
        </p:nvPicPr>
        <p:blipFill>
          <a:blip r:embed="rId2"/>
          <a:stretch>
            <a:fillRect/>
          </a:stretch>
        </p:blipFill>
        <p:spPr>
          <a:xfrm>
            <a:off x="4434840" y="1234440"/>
            <a:ext cx="329184" cy="329184"/>
          </a:xfrm>
          <a:prstGeom prst="rect">
            <a:avLst/>
          </a:prstGeom>
        </p:spPr>
      </p:pic>
      <p:sp>
        <p:nvSpPr>
          <p:cNvPr id="19" name="Text 15"/>
          <p:cNvSpPr/>
          <p:nvPr/>
        </p:nvSpPr>
        <p:spPr>
          <a:xfrm>
            <a:off x="3319272" y="1773936"/>
            <a:ext cx="2560320" cy="329184"/>
          </a:xfrm>
          <a:prstGeom prst="rect">
            <a:avLst/>
          </a:prstGeom>
          <a:noFill/>
          <a:ln/>
        </p:spPr>
        <p:txBody>
          <a:bodyPr wrap="square" lIns="0" tIns="0" rIns="0" bIns="0" rtlCol="0" anchor="ctr"/>
          <a:lstStyle/>
          <a:p>
            <a:pPr algn="ctr" indent="0" marL="0">
              <a:buNone/>
            </a:pPr>
            <a:r>
              <a:rPr lang="en-US" sz="1000" b="1" dirty="0">
                <a:solidFill>
                  <a:srgbClr val="C9922A"/>
                </a:solidFill>
                <a:latin typeface="Calibri" pitchFamily="34" charset="0"/>
                <a:ea typeface="Calibri" pitchFamily="34" charset="-122"/>
                <a:cs typeface="Calibri" pitchFamily="34" charset="-120"/>
              </a:rPr>
              <a:t>THE RISK IS ALSO REAL</a:t>
            </a:r>
            <a:endParaRPr lang="en-US" sz="1000" dirty="0"/>
          </a:p>
        </p:txBody>
      </p:sp>
      <p:sp>
        <p:nvSpPr>
          <p:cNvPr id="20" name="Text 16"/>
          <p:cNvSpPr/>
          <p:nvPr/>
        </p:nvSpPr>
        <p:spPr>
          <a:xfrm>
            <a:off x="3364992" y="2157984"/>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F4F6F8"/>
                </a:solidFill>
                <a:latin typeface="Calibri" pitchFamily="34" charset="0"/>
                <a:ea typeface="Calibri" pitchFamily="34" charset="-122"/>
                <a:cs typeface="Calibri" pitchFamily="34" charset="-120"/>
              </a:rPr>
              <a:t>Burry thesis is analytically grounded — Cisco/Nvidia parallel deserves respect</a:t>
            </a:r>
            <a:endParaRPr lang="en-US" sz="850" dirty="0"/>
          </a:p>
        </p:txBody>
      </p:sp>
      <p:sp>
        <p:nvSpPr>
          <p:cNvPr id="21" name="Text 17"/>
          <p:cNvSpPr/>
          <p:nvPr/>
        </p:nvSpPr>
        <p:spPr>
          <a:xfrm>
            <a:off x="3364992" y="2761488"/>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F4F6F8"/>
                </a:solidFill>
                <a:latin typeface="Calibri" pitchFamily="34" charset="0"/>
                <a:ea typeface="Calibri" pitchFamily="34" charset="-122"/>
                <a:cs typeface="Calibri" pitchFamily="34" charset="-120"/>
              </a:rPr>
              <a:t>Power delays, cost inflation, and cap rate risk require conservative underwriting</a:t>
            </a:r>
            <a:endParaRPr lang="en-US" sz="850" dirty="0"/>
          </a:p>
        </p:txBody>
      </p:sp>
      <p:sp>
        <p:nvSpPr>
          <p:cNvPr id="22" name="Text 18"/>
          <p:cNvSpPr/>
          <p:nvPr/>
        </p:nvSpPr>
        <p:spPr>
          <a:xfrm>
            <a:off x="3364992" y="3364992"/>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F4F6F8"/>
                </a:solidFill>
                <a:latin typeface="Calibri" pitchFamily="34" charset="0"/>
                <a:ea typeface="Calibri" pitchFamily="34" charset="-122"/>
                <a:cs typeface="Calibri" pitchFamily="34" charset="-120"/>
              </a:rPr>
              <a:t>Tenant quality is the primary risk mitigation — no speculative / startup exposure</a:t>
            </a:r>
            <a:endParaRPr lang="en-US" sz="850" dirty="0"/>
          </a:p>
        </p:txBody>
      </p:sp>
      <p:sp>
        <p:nvSpPr>
          <p:cNvPr id="23" name="Text 19"/>
          <p:cNvSpPr/>
          <p:nvPr/>
        </p:nvSpPr>
        <p:spPr>
          <a:xfrm>
            <a:off x="3364992" y="3968496"/>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F4F6F8"/>
                </a:solidFill>
                <a:latin typeface="Calibri" pitchFamily="34" charset="0"/>
                <a:ea typeface="Calibri" pitchFamily="34" charset="-122"/>
                <a:cs typeface="Calibri" pitchFamily="34" charset="-120"/>
              </a:rPr>
              <a:t>Dot-com shows infra endures; but only assets with institutional tenants held value</a:t>
            </a:r>
            <a:endParaRPr lang="en-US" sz="850" dirty="0"/>
          </a:p>
        </p:txBody>
      </p:sp>
      <p:sp>
        <p:nvSpPr>
          <p:cNvPr id="24" name="Shape 20"/>
          <p:cNvSpPr/>
          <p:nvPr/>
        </p:nvSpPr>
        <p:spPr>
          <a:xfrm>
            <a:off x="6108192" y="1115568"/>
            <a:ext cx="2743200" cy="3584448"/>
          </a:xfrm>
          <a:prstGeom prst="rect">
            <a:avLst/>
          </a:prstGeom>
          <a:solidFill>
            <a:srgbClr val="FFFFFF">
              <a:alpha val="12000"/>
            </a:srgbClr>
          </a:solidFill>
          <a:ln w="12700">
            <a:solidFill>
              <a:srgbClr val="FFFFFF">
                <a:alpha val="40000"/>
              </a:srgbClr>
            </a:solidFill>
            <a:prstDash val="solid"/>
          </a:ln>
        </p:spPr>
      </p:sp>
      <p:sp>
        <p:nvSpPr>
          <p:cNvPr id="25" name="Shape 21"/>
          <p:cNvSpPr/>
          <p:nvPr/>
        </p:nvSpPr>
        <p:spPr>
          <a:xfrm>
            <a:off x="6108192" y="1115568"/>
            <a:ext cx="2743200" cy="54864"/>
          </a:xfrm>
          <a:prstGeom prst="rect">
            <a:avLst/>
          </a:prstGeom>
          <a:solidFill>
            <a:srgbClr val="FFFFFF"/>
          </a:solidFill>
          <a:ln w="12700">
            <a:solidFill>
              <a:srgbClr val="FFFFFF"/>
            </a:solidFill>
            <a:prstDash val="solid"/>
          </a:ln>
        </p:spPr>
      </p:sp>
      <p:sp>
        <p:nvSpPr>
          <p:cNvPr id="26" name="Shape 22"/>
          <p:cNvSpPr/>
          <p:nvPr/>
        </p:nvSpPr>
        <p:spPr>
          <a:xfrm>
            <a:off x="7205472" y="1170432"/>
            <a:ext cx="548640" cy="548640"/>
          </a:xfrm>
          <a:prstGeom prst="ellipse">
            <a:avLst/>
          </a:prstGeom>
          <a:solidFill>
            <a:srgbClr val="0D7A5F"/>
          </a:solidFill>
          <a:ln w="12700">
            <a:solidFill>
              <a:srgbClr val="0D7A5F"/>
            </a:solidFill>
            <a:prstDash val="solid"/>
          </a:ln>
        </p:spPr>
      </p:sp>
      <p:pic>
        <p:nvPicPr>
          <p:cNvPr id="27" name="Image 2" descr="preencoded.png">    </p:cNvPr>
          <p:cNvPicPr>
            <a:picLocks noChangeAspect="1"/>
          </p:cNvPicPr>
          <p:nvPr/>
        </p:nvPicPr>
        <p:blipFill>
          <a:blip r:embed="rId3"/>
          <a:stretch>
            <a:fillRect/>
          </a:stretch>
        </p:blipFill>
        <p:spPr>
          <a:xfrm>
            <a:off x="7315200" y="1234440"/>
            <a:ext cx="329184" cy="329184"/>
          </a:xfrm>
          <a:prstGeom prst="rect">
            <a:avLst/>
          </a:prstGeom>
        </p:spPr>
      </p:pic>
      <p:sp>
        <p:nvSpPr>
          <p:cNvPr id="28" name="Text 23"/>
          <p:cNvSpPr/>
          <p:nvPr/>
        </p:nvSpPr>
        <p:spPr>
          <a:xfrm>
            <a:off x="6199632" y="1773936"/>
            <a:ext cx="256032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CBRE'S NEXT MOVE</a:t>
            </a:r>
            <a:endParaRPr lang="en-US" sz="1000" dirty="0"/>
          </a:p>
        </p:txBody>
      </p:sp>
      <p:sp>
        <p:nvSpPr>
          <p:cNvPr id="29" name="Text 24"/>
          <p:cNvSpPr/>
          <p:nvPr/>
        </p:nvSpPr>
        <p:spPr>
          <a:xfrm>
            <a:off x="6245352" y="2157984"/>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CADCFC"/>
                </a:solidFill>
                <a:latin typeface="Calibri" pitchFamily="34" charset="0"/>
                <a:ea typeface="Calibri" pitchFamily="34" charset="-122"/>
                <a:cs typeface="Calibri" pitchFamily="34" charset="-120"/>
              </a:rPr>
              <a:t>Commission Eastern Ontario corridor site mapping — 12-month window before pricing adjusts</a:t>
            </a:r>
            <a:endParaRPr lang="en-US" sz="850" dirty="0"/>
          </a:p>
        </p:txBody>
      </p:sp>
      <p:sp>
        <p:nvSpPr>
          <p:cNvPr id="30" name="Text 25"/>
          <p:cNvSpPr/>
          <p:nvPr/>
        </p:nvSpPr>
        <p:spPr>
          <a:xfrm>
            <a:off x="6245352" y="2761488"/>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CADCFC"/>
                </a:solidFill>
                <a:latin typeface="Calibri" pitchFamily="34" charset="0"/>
                <a:ea typeface="Calibri" pitchFamily="34" charset="-122"/>
                <a:cs typeface="Calibri" pitchFamily="34" charset="-120"/>
              </a:rPr>
              <a:t>Build power advisory capability: recruit or partner with grid expertise</a:t>
            </a:r>
            <a:endParaRPr lang="en-US" sz="850" dirty="0"/>
          </a:p>
        </p:txBody>
      </p:sp>
      <p:sp>
        <p:nvSpPr>
          <p:cNvPr id="31" name="Text 26"/>
          <p:cNvSpPr/>
          <p:nvPr/>
        </p:nvSpPr>
        <p:spPr>
          <a:xfrm>
            <a:off x="6245352" y="3364992"/>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CADCFC"/>
                </a:solidFill>
                <a:latin typeface="Calibri" pitchFamily="34" charset="0"/>
                <a:ea typeface="Calibri" pitchFamily="34" charset="-122"/>
                <a:cs typeface="Calibri" pitchFamily="34" charset="-120"/>
              </a:rPr>
              <a:t>Lead institutional market with quarterly Eastern Ontario data centre research publication</a:t>
            </a:r>
            <a:endParaRPr lang="en-US" sz="850" dirty="0"/>
          </a:p>
        </p:txBody>
      </p:sp>
      <p:sp>
        <p:nvSpPr>
          <p:cNvPr id="32" name="Text 27"/>
          <p:cNvSpPr/>
          <p:nvPr/>
        </p:nvSpPr>
        <p:spPr>
          <a:xfrm>
            <a:off x="6245352" y="3968496"/>
            <a:ext cx="2487168" cy="566928"/>
          </a:xfrm>
          <a:prstGeom prst="rect">
            <a:avLst/>
          </a:prstGeom>
          <a:noFill/>
          <a:ln/>
        </p:spPr>
        <p:txBody>
          <a:bodyPr wrap="square" lIns="0" tIns="0" rIns="0" bIns="0" rtlCol="0" anchor="ctr"/>
          <a:lstStyle/>
          <a:p>
            <a:pPr marL="342900" indent="-342900">
              <a:buSzPct val="100000"/>
              <a:buChar char="•"/>
            </a:pPr>
            <a:r>
              <a:rPr lang="en-US" sz="850" dirty="0">
                <a:solidFill>
                  <a:srgbClr val="CADCFC"/>
                </a:solidFill>
                <a:latin typeface="Calibri" pitchFamily="34" charset="0"/>
                <a:ea typeface="Calibri" pitchFamily="34" charset="-122"/>
                <a:cs typeface="Calibri" pitchFamily="34" charset="-120"/>
              </a:rPr>
              <a:t>Be the disciplined advisor: decline speculative mandates, build long-term brand</a:t>
            </a:r>
            <a:endParaRPr lang="en-US" sz="850" dirty="0"/>
          </a:p>
        </p:txBody>
      </p:sp>
      <p:sp>
        <p:nvSpPr>
          <p:cNvPr id="33" name="Text 28"/>
          <p:cNvSpPr/>
          <p:nvPr/>
        </p:nvSpPr>
        <p:spPr>
          <a:xfrm>
            <a:off x="347472" y="4777740"/>
            <a:ext cx="8503920" cy="256032"/>
          </a:xfrm>
          <a:prstGeom prst="rect">
            <a:avLst/>
          </a:prstGeom>
          <a:noFill/>
          <a:ln/>
        </p:spPr>
        <p:txBody>
          <a:bodyPr wrap="square" lIns="0" tIns="0" rIns="0" bIns="0" rtlCol="0" anchor="ctr"/>
          <a:lstStyle/>
          <a:p>
            <a:pPr algn="ctr" indent="0" marL="0">
              <a:buNone/>
            </a:pPr>
            <a:r>
              <a:rPr lang="en-US" sz="900" i="1" dirty="0">
                <a:solidFill>
                  <a:srgbClr val="5A6B7A"/>
                </a:solidFill>
                <a:latin typeface="Calibri" pitchFamily="34" charset="0"/>
                <a:ea typeface="Calibri" pitchFamily="34" charset="-122"/>
                <a:cs typeface="Calibri" pitchFamily="34" charset="-120"/>
              </a:rPr>
              <a:t>Amanda Dolan  |  Research Analyst  |  CBRE  |  March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Centre Demand Paradox – Eastern Ontario</dc:title>
  <dc:subject>PptxGenJS Presentation</dc:subject>
  <dc:creator>Amanda Dolan, CBRE Research</dc:creator>
  <cp:lastModifiedBy>Amanda Dolan, CBRE Research</cp:lastModifiedBy>
  <cp:revision>1</cp:revision>
  <dcterms:created xsi:type="dcterms:W3CDTF">2026-03-05T11:38:50Z</dcterms:created>
  <dcterms:modified xsi:type="dcterms:W3CDTF">2026-03-05T11:38:50Z</dcterms:modified>
</cp:coreProperties>
</file>